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5"/>
  </p:notes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Arimo" charset="1" panose="020B0604020202020204"/>
      <p:regular r:id="rId18"/>
    </p:embeddedFont>
    <p:embeddedFont>
      <p:font typeface="Arimo Bold" charset="1" panose="020B070402020202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notesMasters/notesMaster1.xml" Type="http://schemas.openxmlformats.org/officeDocument/2006/relationships/notesMaster"/><Relationship Id="rId16" Target="theme/theme2.xml" Type="http://schemas.openxmlformats.org/officeDocument/2006/relationships/theme"/><Relationship Id="rId17" Target="notesSlides/notesSlide1.xml" Type="http://schemas.openxmlformats.org/officeDocument/2006/relationships/notesSlide"/><Relationship Id="rId18" Target="fonts/font18.fntdata" Type="http://schemas.openxmlformats.org/officeDocument/2006/relationships/font"/><Relationship Id="rId19" Target="notesSlides/notesSlide2.xml" Type="http://schemas.openxmlformats.org/officeDocument/2006/relationships/notesSlide"/><Relationship Id="rId2" Target="presProps.xml" Type="http://schemas.openxmlformats.org/officeDocument/2006/relationships/presProps"/><Relationship Id="rId20" Target="notesSlides/notesSlide3.xml" Type="http://schemas.openxmlformats.org/officeDocument/2006/relationships/notesSlide"/><Relationship Id="rId21" Target="notesSlides/notesSlide4.xml" Type="http://schemas.openxmlformats.org/officeDocument/2006/relationships/notesSlide"/><Relationship Id="rId22" Target="notesSlides/notesSlide5.xml" Type="http://schemas.openxmlformats.org/officeDocument/2006/relationships/notesSlide"/><Relationship Id="rId23" Target="notesSlides/notesSlide6.xml" Type="http://schemas.openxmlformats.org/officeDocument/2006/relationships/notesSlide"/><Relationship Id="rId24" Target="notesSlides/notesSlide7.xml" Type="http://schemas.openxmlformats.org/officeDocument/2006/relationships/notesSlide"/><Relationship Id="rId25" Target="notesSlides/notesSlide8.xml" Type="http://schemas.openxmlformats.org/officeDocument/2006/relationships/notesSlide"/><Relationship Id="rId26" Target="fonts/font26.fntdata" Type="http://schemas.openxmlformats.org/officeDocument/2006/relationships/font"/><Relationship Id="rId27" Target="notesSlides/notesSlide9.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afternoon to BMC and our honored organizers. Thank you to the leadership and organizers for giving us this platform. Today we introduce BMC Academia, our vision for a Next-Gen Student Academic Platform.</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Ask the question and pause before revealing the answer. Time is the resource we cannot replenish. How students use it shapes both their academic performance and their opportunity to grow.</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Pause on knowledge. Across faculties, students face deeper courses and a growing volume of learning resources. The opportunity to learn is expanding, but the time available in a semester remains limited.</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Time appears again, this time as the learner's limitation. Students must work through dense materials within tight semester timelines. Filtering what matters consumes time that could otherwise go into understanding and revision.</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equation captures the need behind BMC Academia: exponential knowledge plus finite time creates a need for high-efficiency learning. Our aim is one unified academic platform for BMC students across all faculties.</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Walk through the four features. Concise notes support understanding, flashcards support active recall, and past year questions with solutions support exam preparation. Custom resource ingestion extends the toolkit to the materials students already use.</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These are future-facing capabilities, not a claim of completed deployment. Recording could help absent students access lectures, transcription could make recordings easier to revise, and a focus leaderboard could recognize sustained study effort.</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 team details were supplied. These are clearly marked profile placeholders, not a statement of team size or responsibilities. Replace the slots with confirmed information before presenting.</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Thank the organizers and audience, then invite questions. Welcome feedback from judges, faculty, and students on the proposed features and the learning challenges that deserve priority.</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4.png" Type="http://schemas.openxmlformats.org/officeDocument/2006/relationships/image"/><Relationship Id="rId4"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2.jpeg" Type="http://schemas.openxmlformats.org/officeDocument/2006/relationships/image"/><Relationship Id="rId4" Target="../media/image13.jpeg" Type="http://schemas.openxmlformats.org/officeDocument/2006/relationships/image"/><Relationship Id="rId5" Target="../media/image14.jpeg" Type="http://schemas.openxmlformats.org/officeDocument/2006/relationships/image"/><Relationship Id="rId6" Target="../media/image15.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4" id="4"/>
          <p:cNvGrpSpPr/>
          <p:nvPr/>
        </p:nvGrpSpPr>
        <p:grpSpPr>
          <a:xfrm rot="0">
            <a:off x="343157" y="343167"/>
            <a:ext cx="11591163" cy="9608706"/>
            <a:chOff x="0" y="0"/>
            <a:chExt cx="15454884" cy="12811608"/>
          </a:xfrm>
        </p:grpSpPr>
        <p:sp>
          <p:nvSpPr>
            <p:cNvPr name="Freeform 5" id="5"/>
            <p:cNvSpPr/>
            <p:nvPr/>
          </p:nvSpPr>
          <p:spPr>
            <a:xfrm flipH="false" flipV="false" rot="0">
              <a:off x="0" y="0"/>
              <a:ext cx="15454885" cy="12811633"/>
            </a:xfrm>
            <a:custGeom>
              <a:avLst/>
              <a:gdLst/>
              <a:ahLst/>
              <a:cxnLst/>
              <a:rect r="r" b="b" t="t" l="l"/>
              <a:pathLst>
                <a:path h="12811633" w="15454885">
                  <a:moveTo>
                    <a:pt x="0" y="343281"/>
                  </a:moveTo>
                  <a:cubicBezTo>
                    <a:pt x="0" y="153670"/>
                    <a:pt x="153670" y="0"/>
                    <a:pt x="343281" y="0"/>
                  </a:cubicBezTo>
                  <a:lnTo>
                    <a:pt x="15111603" y="0"/>
                  </a:lnTo>
                  <a:cubicBezTo>
                    <a:pt x="15301215" y="0"/>
                    <a:pt x="15454885" y="153670"/>
                    <a:pt x="15454885" y="343281"/>
                  </a:cubicBezTo>
                  <a:lnTo>
                    <a:pt x="15454885" y="12468352"/>
                  </a:lnTo>
                  <a:cubicBezTo>
                    <a:pt x="15454885" y="12657963"/>
                    <a:pt x="15301215" y="12811633"/>
                    <a:pt x="15111603" y="12811633"/>
                  </a:cubicBezTo>
                  <a:lnTo>
                    <a:pt x="343281" y="12811633"/>
                  </a:lnTo>
                  <a:cubicBezTo>
                    <a:pt x="153670" y="12811633"/>
                    <a:pt x="0" y="12657963"/>
                    <a:pt x="0" y="12468352"/>
                  </a:cubicBezTo>
                  <a:close/>
                </a:path>
              </a:pathLst>
            </a:custGeom>
            <a:solidFill>
              <a:srgbClr val="0B2345"/>
            </a:solidFill>
          </p:spPr>
        </p:sp>
      </p:grpSp>
      <p:sp>
        <p:nvSpPr>
          <p:cNvPr name="TextBox 6" id="6"/>
          <p:cNvSpPr txBox="true"/>
          <p:nvPr/>
        </p:nvSpPr>
        <p:spPr>
          <a:xfrm rot="0">
            <a:off x="953224" y="934193"/>
            <a:ext cx="10981106" cy="282083"/>
          </a:xfrm>
          <a:prstGeom prst="rect">
            <a:avLst/>
          </a:prstGeom>
        </p:spPr>
        <p:txBody>
          <a:bodyPr anchor="t" rtlCol="false" tIns="0" lIns="0" bIns="0" rIns="0">
            <a:spAutoFit/>
          </a:bodyPr>
          <a:lstStyle/>
          <a:p>
            <a:pPr algn="l">
              <a:lnSpc>
                <a:spcPts val="2071"/>
              </a:lnSpc>
            </a:pPr>
            <a:r>
              <a:rPr lang="en-US" sz="1726" spc="69">
                <a:solidFill>
                  <a:srgbClr val="FFFFFF"/>
                </a:solidFill>
                <a:latin typeface="Arimo"/>
                <a:ea typeface="Arimo"/>
                <a:cs typeface="Arimo"/>
                <a:sym typeface="Arimo"/>
              </a:rPr>
              <a:t>BMC ACADEMIA</a:t>
            </a:r>
          </a:p>
        </p:txBody>
      </p:sp>
      <p:sp>
        <p:nvSpPr>
          <p:cNvPr name="TextBox 7" id="7"/>
          <p:cNvSpPr txBox="true"/>
          <p:nvPr/>
        </p:nvSpPr>
        <p:spPr>
          <a:xfrm rot="0">
            <a:off x="953224" y="3605622"/>
            <a:ext cx="10371039" cy="2194865"/>
          </a:xfrm>
          <a:prstGeom prst="rect">
            <a:avLst/>
          </a:prstGeom>
        </p:spPr>
        <p:txBody>
          <a:bodyPr anchor="t" rtlCol="false" tIns="0" lIns="0" bIns="0" rIns="0">
            <a:spAutoFit/>
          </a:bodyPr>
          <a:lstStyle/>
          <a:p>
            <a:pPr algn="l">
              <a:lnSpc>
                <a:spcPts val="5836"/>
              </a:lnSpc>
            </a:pPr>
            <a:r>
              <a:rPr lang="en-US" sz="5404" spc="-108">
                <a:solidFill>
                  <a:srgbClr val="FFFFFF"/>
                </a:solidFill>
                <a:latin typeface="Arimo"/>
                <a:ea typeface="Arimo"/>
                <a:cs typeface="Arimo"/>
                <a:sym typeface="Arimo"/>
              </a:rPr>
              <a:t>Good Afternoon</a:t>
            </a:r>
          </a:p>
          <a:p>
            <a:pPr algn="l">
              <a:lnSpc>
                <a:spcPts val="5836"/>
              </a:lnSpc>
            </a:pPr>
            <a:r>
              <a:rPr lang="en-US" sz="5404" spc="-108">
                <a:solidFill>
                  <a:srgbClr val="FFFFFF"/>
                </a:solidFill>
                <a:latin typeface="Arimo"/>
                <a:ea typeface="Arimo"/>
                <a:cs typeface="Arimo"/>
                <a:sym typeface="Arimo"/>
              </a:rPr>
              <a:t>BMC &amp; Honored Organizers</a:t>
            </a:r>
          </a:p>
        </p:txBody>
      </p:sp>
      <p:sp>
        <p:nvSpPr>
          <p:cNvPr name="TextBox 8" id="8"/>
          <p:cNvSpPr txBox="true"/>
          <p:nvPr/>
        </p:nvSpPr>
        <p:spPr>
          <a:xfrm rot="0">
            <a:off x="953224" y="6029325"/>
            <a:ext cx="10981106" cy="472919"/>
          </a:xfrm>
          <a:prstGeom prst="rect">
            <a:avLst/>
          </a:prstGeom>
        </p:spPr>
        <p:txBody>
          <a:bodyPr anchor="t" rtlCol="false" tIns="0" lIns="0" bIns="0" rIns="0">
            <a:spAutoFit/>
          </a:bodyPr>
          <a:lstStyle/>
          <a:p>
            <a:pPr algn="l">
              <a:lnSpc>
                <a:spcPts val="3793"/>
              </a:lnSpc>
            </a:pPr>
            <a:r>
              <a:rPr lang="en-US" sz="2702">
                <a:solidFill>
                  <a:srgbClr val="FFFFFF"/>
                </a:solidFill>
                <a:latin typeface="Arimo"/>
                <a:ea typeface="Arimo"/>
                <a:cs typeface="Arimo"/>
                <a:sym typeface="Arimo"/>
              </a:rPr>
              <a:t>Thank you to the organizers and leadership for this Oppourtunity.</a:t>
            </a:r>
          </a:p>
        </p:txBody>
      </p:sp>
      <p:sp>
        <p:nvSpPr>
          <p:cNvPr name="TextBox 9" id="9"/>
          <p:cNvSpPr txBox="true"/>
          <p:nvPr/>
        </p:nvSpPr>
        <p:spPr>
          <a:xfrm rot="0">
            <a:off x="953224" y="8927592"/>
            <a:ext cx="4061817" cy="417811"/>
          </a:xfrm>
          <a:prstGeom prst="rect">
            <a:avLst/>
          </a:prstGeom>
        </p:spPr>
        <p:txBody>
          <a:bodyPr anchor="t" rtlCol="false" tIns="0" lIns="0" bIns="0" rIns="0">
            <a:spAutoFit/>
          </a:bodyPr>
          <a:lstStyle/>
          <a:p>
            <a:pPr algn="l">
              <a:lnSpc>
                <a:spcPts val="3177"/>
              </a:lnSpc>
            </a:pPr>
            <a:r>
              <a:rPr lang="en-US" sz="2702">
                <a:solidFill>
                  <a:srgbClr val="FFFFFF"/>
                </a:solidFill>
                <a:latin typeface="Arimo"/>
                <a:ea typeface="Arimo"/>
                <a:cs typeface="Arimo"/>
                <a:sym typeface="Arimo"/>
              </a:rPr>
              <a:t>Presented by Team Nexus</a:t>
            </a:r>
          </a:p>
        </p:txBody>
      </p:sp>
      <p:grpSp>
        <p:nvGrpSpPr>
          <p:cNvPr name="Group 10" id="10"/>
          <p:cNvGrpSpPr/>
          <p:nvPr/>
        </p:nvGrpSpPr>
        <p:grpSpPr>
          <a:xfrm rot="0">
            <a:off x="12163101" y="343167"/>
            <a:ext cx="5795582" cy="9608706"/>
            <a:chOff x="0" y="0"/>
            <a:chExt cx="7727442" cy="12811608"/>
          </a:xfrm>
        </p:grpSpPr>
        <p:sp>
          <p:nvSpPr>
            <p:cNvPr name="Freeform 11" id="11" descr="preencoded.png"/>
            <p:cNvSpPr/>
            <p:nvPr/>
          </p:nvSpPr>
          <p:spPr>
            <a:xfrm flipH="false" flipV="false" rot="0">
              <a:off x="0" y="0"/>
              <a:ext cx="7727442" cy="12811633"/>
            </a:xfrm>
            <a:custGeom>
              <a:avLst/>
              <a:gdLst/>
              <a:ahLst/>
              <a:cxnLst/>
              <a:rect r="r" b="b" t="t" l="l"/>
              <a:pathLst>
                <a:path h="12811633" w="7727442">
                  <a:moveTo>
                    <a:pt x="0" y="0"/>
                  </a:moveTo>
                  <a:lnTo>
                    <a:pt x="7727442" y="0"/>
                  </a:lnTo>
                  <a:lnTo>
                    <a:pt x="7727442" y="12811633"/>
                  </a:lnTo>
                  <a:lnTo>
                    <a:pt x="0" y="12811633"/>
                  </a:lnTo>
                  <a:lnTo>
                    <a:pt x="0" y="0"/>
                  </a:lnTo>
                  <a:close/>
                </a:path>
              </a:pathLst>
            </a:custGeom>
            <a:blipFill>
              <a:blip r:embed="rId3"/>
              <a:stretch>
                <a:fillRect l="-83" t="0" r="-83"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sp>
        <p:nvSpPr>
          <p:cNvPr name="TextBox 4" id="4"/>
          <p:cNvSpPr txBox="true"/>
          <p:nvPr/>
        </p:nvSpPr>
        <p:spPr>
          <a:xfrm rot="0">
            <a:off x="762581" y="743550"/>
            <a:ext cx="17539268" cy="282083"/>
          </a:xfrm>
          <a:prstGeom prst="rect">
            <a:avLst/>
          </a:prstGeom>
        </p:spPr>
        <p:txBody>
          <a:bodyPr anchor="t" rtlCol="false" tIns="0" lIns="0" bIns="0" rIns="0">
            <a:spAutoFit/>
          </a:bodyPr>
          <a:lstStyle/>
          <a:p>
            <a:pPr algn="l">
              <a:lnSpc>
                <a:spcPts val="2071"/>
              </a:lnSpc>
            </a:pPr>
            <a:r>
              <a:rPr lang="en-US" sz="1726" spc="69">
                <a:solidFill>
                  <a:srgbClr val="000000"/>
                </a:solidFill>
                <a:latin typeface="Arimo"/>
                <a:ea typeface="Arimo"/>
                <a:cs typeface="Arimo"/>
                <a:sym typeface="Arimo"/>
              </a:rPr>
              <a:t>THE FIRST QUESTION</a:t>
            </a:r>
          </a:p>
        </p:txBody>
      </p:sp>
      <p:sp>
        <p:nvSpPr>
          <p:cNvPr name="TextBox 5" id="5"/>
          <p:cNvSpPr txBox="true"/>
          <p:nvPr/>
        </p:nvSpPr>
        <p:spPr>
          <a:xfrm rot="0">
            <a:off x="762581" y="1182891"/>
            <a:ext cx="16776687" cy="1279465"/>
          </a:xfrm>
          <a:prstGeom prst="rect">
            <a:avLst/>
          </a:prstGeom>
        </p:spPr>
        <p:txBody>
          <a:bodyPr anchor="t" rtlCol="false" tIns="0" lIns="0" bIns="0" rIns="0">
            <a:spAutoFit/>
          </a:bodyPr>
          <a:lstStyle/>
          <a:p>
            <a:pPr algn="l">
              <a:lnSpc>
                <a:spcPts val="5188"/>
              </a:lnSpc>
            </a:pPr>
            <a:r>
              <a:rPr lang="en-US" sz="4803" spc="-96">
                <a:solidFill>
                  <a:srgbClr val="000000"/>
                </a:solidFill>
                <a:latin typeface="Arimo"/>
                <a:ea typeface="Arimo"/>
                <a:cs typeface="Arimo"/>
                <a:sym typeface="Arimo"/>
              </a:rPr>
              <a:t>What's the single most important asset to every person?</a:t>
            </a:r>
          </a:p>
        </p:txBody>
      </p:sp>
      <p:grpSp>
        <p:nvGrpSpPr>
          <p:cNvPr name="Group 6" id="6"/>
          <p:cNvGrpSpPr/>
          <p:nvPr/>
        </p:nvGrpSpPr>
        <p:grpSpPr>
          <a:xfrm rot="0">
            <a:off x="762581" y="2757859"/>
            <a:ext cx="5515870" cy="6774590"/>
            <a:chOff x="0" y="0"/>
            <a:chExt cx="7354494" cy="9032786"/>
          </a:xfrm>
        </p:grpSpPr>
        <p:sp>
          <p:nvSpPr>
            <p:cNvPr name="Freeform 7" id="7" descr="preencoded.png"/>
            <p:cNvSpPr/>
            <p:nvPr/>
          </p:nvSpPr>
          <p:spPr>
            <a:xfrm flipH="false" flipV="false" rot="0">
              <a:off x="0" y="0"/>
              <a:ext cx="7354443" cy="9032748"/>
            </a:xfrm>
            <a:custGeom>
              <a:avLst/>
              <a:gdLst/>
              <a:ahLst/>
              <a:cxnLst/>
              <a:rect r="r" b="b" t="t" l="l"/>
              <a:pathLst>
                <a:path h="9032748" w="7354443">
                  <a:moveTo>
                    <a:pt x="0" y="0"/>
                  </a:moveTo>
                  <a:lnTo>
                    <a:pt x="7354443" y="0"/>
                  </a:lnTo>
                  <a:lnTo>
                    <a:pt x="7354443" y="9032748"/>
                  </a:lnTo>
                  <a:lnTo>
                    <a:pt x="0" y="9032748"/>
                  </a:lnTo>
                  <a:lnTo>
                    <a:pt x="0" y="0"/>
                  </a:lnTo>
                  <a:close/>
                </a:path>
              </a:pathLst>
            </a:custGeom>
            <a:blipFill>
              <a:blip r:embed="rId3"/>
              <a:stretch>
                <a:fillRect l="-8" t="0" r="-9" b="0"/>
              </a:stretch>
            </a:blipFill>
          </p:spPr>
        </p:sp>
      </p:grpSp>
      <p:grpSp>
        <p:nvGrpSpPr>
          <p:cNvPr name="Group 8" id="8"/>
          <p:cNvGrpSpPr/>
          <p:nvPr/>
        </p:nvGrpSpPr>
        <p:grpSpPr>
          <a:xfrm rot="0">
            <a:off x="6507223" y="2757859"/>
            <a:ext cx="11032046" cy="6774590"/>
            <a:chOff x="0" y="0"/>
            <a:chExt cx="14709394" cy="9032786"/>
          </a:xfrm>
        </p:grpSpPr>
        <p:sp>
          <p:nvSpPr>
            <p:cNvPr name="Freeform 9" id="9"/>
            <p:cNvSpPr/>
            <p:nvPr/>
          </p:nvSpPr>
          <p:spPr>
            <a:xfrm flipH="false" flipV="false" rot="0">
              <a:off x="0" y="0"/>
              <a:ext cx="14709394" cy="9032748"/>
            </a:xfrm>
            <a:custGeom>
              <a:avLst/>
              <a:gdLst/>
              <a:ahLst/>
              <a:cxnLst/>
              <a:rect r="r" b="b" t="t" l="l"/>
              <a:pathLst>
                <a:path h="9032748" w="14709394">
                  <a:moveTo>
                    <a:pt x="0" y="343154"/>
                  </a:moveTo>
                  <a:cubicBezTo>
                    <a:pt x="0" y="153670"/>
                    <a:pt x="153670" y="0"/>
                    <a:pt x="343154" y="0"/>
                  </a:cubicBezTo>
                  <a:lnTo>
                    <a:pt x="14366239" y="0"/>
                  </a:lnTo>
                  <a:cubicBezTo>
                    <a:pt x="14555724" y="0"/>
                    <a:pt x="14709394" y="153670"/>
                    <a:pt x="14709394" y="343154"/>
                  </a:cubicBezTo>
                  <a:lnTo>
                    <a:pt x="14709394" y="8689594"/>
                  </a:lnTo>
                  <a:cubicBezTo>
                    <a:pt x="14709394" y="8879078"/>
                    <a:pt x="14555724" y="9032748"/>
                    <a:pt x="14366239" y="9032748"/>
                  </a:cubicBezTo>
                  <a:lnTo>
                    <a:pt x="343154" y="9032748"/>
                  </a:lnTo>
                  <a:cubicBezTo>
                    <a:pt x="153670" y="9032748"/>
                    <a:pt x="0" y="8879205"/>
                    <a:pt x="0" y="8689594"/>
                  </a:cubicBezTo>
                  <a:close/>
                </a:path>
              </a:pathLst>
            </a:custGeom>
            <a:solidFill>
              <a:srgbClr val="0B2345"/>
            </a:solidFill>
          </p:spPr>
        </p:sp>
      </p:grpSp>
      <p:sp>
        <p:nvSpPr>
          <p:cNvPr name="TextBox 10" id="10"/>
          <p:cNvSpPr txBox="true"/>
          <p:nvPr/>
        </p:nvSpPr>
        <p:spPr>
          <a:xfrm rot="0">
            <a:off x="7117280" y="4799924"/>
            <a:ext cx="9811922" cy="1562243"/>
          </a:xfrm>
          <a:prstGeom prst="rect">
            <a:avLst/>
          </a:prstGeom>
        </p:spPr>
        <p:txBody>
          <a:bodyPr anchor="t" rtlCol="false" tIns="0" lIns="0" bIns="0" rIns="0">
            <a:spAutoFit/>
          </a:bodyPr>
          <a:lstStyle/>
          <a:p>
            <a:pPr algn="l">
              <a:lnSpc>
                <a:spcPts val="13478"/>
              </a:lnSpc>
            </a:pPr>
            <a:r>
              <a:rPr lang="en-US" sz="12910" spc="-387">
                <a:solidFill>
                  <a:srgbClr val="FFFFFF"/>
                </a:solidFill>
                <a:latin typeface="Arimo"/>
                <a:ea typeface="Arimo"/>
                <a:cs typeface="Arimo"/>
                <a:sym typeface="Arimo"/>
              </a:rPr>
              <a:t>TIME</a:t>
            </a:r>
          </a:p>
        </p:txBody>
      </p:sp>
      <p:sp>
        <p:nvSpPr>
          <p:cNvPr name="TextBox 11" id="11"/>
          <p:cNvSpPr txBox="true"/>
          <p:nvPr/>
        </p:nvSpPr>
        <p:spPr>
          <a:xfrm rot="0">
            <a:off x="7117280" y="6524225"/>
            <a:ext cx="9811922" cy="414357"/>
          </a:xfrm>
          <a:prstGeom prst="rect">
            <a:avLst/>
          </a:prstGeom>
        </p:spPr>
        <p:txBody>
          <a:bodyPr anchor="t" rtlCol="false" tIns="0" lIns="0" bIns="0" rIns="0">
            <a:spAutoFit/>
          </a:bodyPr>
          <a:lstStyle/>
          <a:p>
            <a:pPr algn="l">
              <a:lnSpc>
                <a:spcPts val="3177"/>
              </a:lnSpc>
            </a:pPr>
            <a:r>
              <a:rPr lang="en-US" sz="2702">
                <a:solidFill>
                  <a:srgbClr val="FFFFFF"/>
                </a:solidFill>
                <a:latin typeface="Arimo"/>
                <a:ea typeface="Arimo"/>
                <a:cs typeface="Arimo"/>
                <a:sym typeface="Arimo"/>
              </a:rPr>
              <a:t>An irreplaceable, non-renewable resource.</a:t>
            </a:r>
          </a:p>
        </p:txBody>
      </p:sp>
      <p:sp>
        <p:nvSpPr>
          <p:cNvPr name="TextBox 12" id="12"/>
          <p:cNvSpPr txBox="true"/>
          <p:nvPr/>
        </p:nvSpPr>
        <p:spPr>
          <a:xfrm rot="0">
            <a:off x="7117280" y="7086381"/>
            <a:ext cx="10421979" cy="547021"/>
          </a:xfrm>
          <a:prstGeom prst="rect">
            <a:avLst/>
          </a:prstGeom>
        </p:spPr>
        <p:txBody>
          <a:bodyPr anchor="t" rtlCol="false" tIns="0" lIns="0" bIns="0" rIns="0">
            <a:spAutoFit/>
          </a:bodyPr>
          <a:lstStyle/>
          <a:p>
            <a:pPr algn="l">
              <a:lnSpc>
                <a:spcPts val="3793"/>
              </a:lnSpc>
            </a:pPr>
            <a:r>
              <a:rPr lang="en-US" sz="2702">
                <a:solidFill>
                  <a:srgbClr val="FFFFFF"/>
                </a:solidFill>
                <a:latin typeface="Arimo"/>
                <a:ea typeface="Arimo"/>
                <a:cs typeface="Arimo"/>
                <a:sym typeface="Arimo"/>
              </a:rPr>
              <a:t>It governs academic performance and growth.</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sp>
        <p:nvSpPr>
          <p:cNvPr name="TextBox 4" id="4"/>
          <p:cNvSpPr txBox="true"/>
          <p:nvPr/>
        </p:nvSpPr>
        <p:spPr>
          <a:xfrm rot="0">
            <a:off x="762581" y="743550"/>
            <a:ext cx="17539268" cy="282083"/>
          </a:xfrm>
          <a:prstGeom prst="rect">
            <a:avLst/>
          </a:prstGeom>
        </p:spPr>
        <p:txBody>
          <a:bodyPr anchor="t" rtlCol="false" tIns="0" lIns="0" bIns="0" rIns="0">
            <a:spAutoFit/>
          </a:bodyPr>
          <a:lstStyle/>
          <a:p>
            <a:pPr algn="l">
              <a:lnSpc>
                <a:spcPts val="2071"/>
              </a:lnSpc>
            </a:pPr>
            <a:r>
              <a:rPr lang="en-US" sz="1726" spc="69">
                <a:solidFill>
                  <a:srgbClr val="000000"/>
                </a:solidFill>
                <a:latin typeface="Arimo"/>
                <a:ea typeface="Arimo"/>
                <a:cs typeface="Arimo"/>
                <a:sym typeface="Arimo"/>
              </a:rPr>
              <a:t>THE SECOND QUESTION</a:t>
            </a:r>
          </a:p>
        </p:txBody>
      </p:sp>
      <p:sp>
        <p:nvSpPr>
          <p:cNvPr name="TextBox 5" id="5"/>
          <p:cNvSpPr txBox="true"/>
          <p:nvPr/>
        </p:nvSpPr>
        <p:spPr>
          <a:xfrm rot="0">
            <a:off x="762581" y="1182891"/>
            <a:ext cx="16776687" cy="1279465"/>
          </a:xfrm>
          <a:prstGeom prst="rect">
            <a:avLst/>
          </a:prstGeom>
        </p:spPr>
        <p:txBody>
          <a:bodyPr anchor="t" rtlCol="false" tIns="0" lIns="0" bIns="0" rIns="0">
            <a:spAutoFit/>
          </a:bodyPr>
          <a:lstStyle/>
          <a:p>
            <a:pPr algn="l">
              <a:lnSpc>
                <a:spcPts val="5188"/>
              </a:lnSpc>
            </a:pPr>
            <a:r>
              <a:rPr lang="en-US" sz="4803" spc="-96">
                <a:solidFill>
                  <a:srgbClr val="000000"/>
                </a:solidFill>
                <a:latin typeface="Arimo"/>
                <a:ea typeface="Arimo"/>
                <a:cs typeface="Arimo"/>
                <a:sym typeface="Arimo"/>
              </a:rPr>
              <a:t>What has grown exponentially over the past decades?</a:t>
            </a:r>
          </a:p>
        </p:txBody>
      </p:sp>
      <p:grpSp>
        <p:nvGrpSpPr>
          <p:cNvPr name="Group 6" id="6"/>
          <p:cNvGrpSpPr/>
          <p:nvPr/>
        </p:nvGrpSpPr>
        <p:grpSpPr>
          <a:xfrm rot="0">
            <a:off x="762581" y="2757859"/>
            <a:ext cx="12410932" cy="6774590"/>
            <a:chOff x="0" y="0"/>
            <a:chExt cx="16547909" cy="9032786"/>
          </a:xfrm>
        </p:grpSpPr>
        <p:sp>
          <p:nvSpPr>
            <p:cNvPr name="Freeform 7" id="7"/>
            <p:cNvSpPr/>
            <p:nvPr/>
          </p:nvSpPr>
          <p:spPr>
            <a:xfrm flipH="false" flipV="false" rot="0">
              <a:off x="0" y="0"/>
              <a:ext cx="16547973" cy="9032748"/>
            </a:xfrm>
            <a:custGeom>
              <a:avLst/>
              <a:gdLst/>
              <a:ahLst/>
              <a:cxnLst/>
              <a:rect r="r" b="b" t="t" l="l"/>
              <a:pathLst>
                <a:path h="9032748" w="16547973">
                  <a:moveTo>
                    <a:pt x="0" y="343154"/>
                  </a:moveTo>
                  <a:cubicBezTo>
                    <a:pt x="0" y="153670"/>
                    <a:pt x="153670" y="0"/>
                    <a:pt x="343154" y="0"/>
                  </a:cubicBezTo>
                  <a:lnTo>
                    <a:pt x="16204819" y="0"/>
                  </a:lnTo>
                  <a:cubicBezTo>
                    <a:pt x="16394303" y="0"/>
                    <a:pt x="16547973" y="153670"/>
                    <a:pt x="16547973" y="343154"/>
                  </a:cubicBezTo>
                  <a:lnTo>
                    <a:pt x="16547973" y="8689594"/>
                  </a:lnTo>
                  <a:cubicBezTo>
                    <a:pt x="16547973" y="8879078"/>
                    <a:pt x="16394303" y="9032748"/>
                    <a:pt x="16204819" y="9032748"/>
                  </a:cubicBezTo>
                  <a:lnTo>
                    <a:pt x="343154" y="9032748"/>
                  </a:lnTo>
                  <a:cubicBezTo>
                    <a:pt x="153670" y="9032748"/>
                    <a:pt x="0" y="8879205"/>
                    <a:pt x="0" y="8689594"/>
                  </a:cubicBezTo>
                  <a:close/>
                </a:path>
              </a:pathLst>
            </a:custGeom>
            <a:solidFill>
              <a:srgbClr val="BDE7FF"/>
            </a:solidFill>
          </p:spPr>
        </p:sp>
      </p:grpSp>
      <p:sp>
        <p:nvSpPr>
          <p:cNvPr name="TextBox 8" id="8"/>
          <p:cNvSpPr txBox="true"/>
          <p:nvPr/>
        </p:nvSpPr>
        <p:spPr>
          <a:xfrm rot="0">
            <a:off x="1334510" y="4956667"/>
            <a:ext cx="11267075" cy="875405"/>
          </a:xfrm>
          <a:prstGeom prst="rect">
            <a:avLst/>
          </a:prstGeom>
        </p:spPr>
        <p:txBody>
          <a:bodyPr anchor="t" rtlCol="false" tIns="0" lIns="0" bIns="0" rIns="0">
            <a:spAutoFit/>
          </a:bodyPr>
          <a:lstStyle/>
          <a:p>
            <a:pPr algn="l">
              <a:lnSpc>
                <a:spcPts val="7522"/>
              </a:lnSpc>
            </a:pPr>
            <a:r>
              <a:rPr lang="en-US" sz="7205" spc="-216">
                <a:solidFill>
                  <a:srgbClr val="000000"/>
                </a:solidFill>
                <a:latin typeface="Arimo"/>
                <a:ea typeface="Arimo"/>
                <a:cs typeface="Arimo"/>
                <a:sym typeface="Arimo"/>
              </a:rPr>
              <a:t>KNOWLEDGE</a:t>
            </a:r>
          </a:p>
        </p:txBody>
      </p:sp>
      <p:sp>
        <p:nvSpPr>
          <p:cNvPr name="TextBox 9" id="9"/>
          <p:cNvSpPr txBox="true"/>
          <p:nvPr/>
        </p:nvSpPr>
        <p:spPr>
          <a:xfrm rot="0">
            <a:off x="1334510" y="6060900"/>
            <a:ext cx="11267075" cy="949169"/>
          </a:xfrm>
          <a:prstGeom prst="rect">
            <a:avLst/>
          </a:prstGeom>
        </p:spPr>
        <p:txBody>
          <a:bodyPr anchor="t" rtlCol="false" tIns="0" lIns="0" bIns="0" rIns="0">
            <a:spAutoFit/>
          </a:bodyPr>
          <a:lstStyle/>
          <a:p>
            <a:pPr algn="l">
              <a:lnSpc>
                <a:spcPts val="3793"/>
              </a:lnSpc>
            </a:pPr>
            <a:r>
              <a:rPr lang="en-US" sz="2702">
                <a:solidFill>
                  <a:srgbClr val="000000"/>
                </a:solidFill>
                <a:latin typeface="Arimo"/>
                <a:ea typeface="Arimo"/>
                <a:cs typeface="Arimo"/>
                <a:sym typeface="Arimo"/>
              </a:rPr>
              <a:t>Syllabus, course depth, and learning resources are expanding faster than ever across all faculties.</a:t>
            </a:r>
          </a:p>
        </p:txBody>
      </p:sp>
      <p:sp>
        <p:nvSpPr>
          <p:cNvPr name="TextBox 10" id="10"/>
          <p:cNvSpPr txBox="true"/>
          <p:nvPr/>
        </p:nvSpPr>
        <p:spPr>
          <a:xfrm rot="0">
            <a:off x="1334510" y="8581777"/>
            <a:ext cx="11839004" cy="378866"/>
          </a:xfrm>
          <a:prstGeom prst="rect">
            <a:avLst/>
          </a:prstGeom>
        </p:spPr>
        <p:txBody>
          <a:bodyPr anchor="t" rtlCol="false" tIns="0" lIns="0" bIns="0" rIns="0">
            <a:spAutoFit/>
          </a:bodyPr>
          <a:lstStyle/>
          <a:p>
            <a:pPr algn="l">
              <a:lnSpc>
                <a:spcPts val="2521"/>
              </a:lnSpc>
            </a:pPr>
            <a:r>
              <a:rPr lang="en-US" sz="1876">
                <a:solidFill>
                  <a:srgbClr val="000000"/>
                </a:solidFill>
                <a:latin typeface="Arimo"/>
                <a:ea typeface="Arimo"/>
                <a:cs typeface="Arimo"/>
                <a:sym typeface="Arimo"/>
              </a:rPr>
              <a:t>More to understand. More to connect. More to retain.</a:t>
            </a:r>
          </a:p>
        </p:txBody>
      </p:sp>
      <p:grpSp>
        <p:nvGrpSpPr>
          <p:cNvPr name="Group 11" id="11"/>
          <p:cNvGrpSpPr/>
          <p:nvPr/>
        </p:nvGrpSpPr>
        <p:grpSpPr>
          <a:xfrm rot="0">
            <a:off x="13402285" y="2757859"/>
            <a:ext cx="4136974" cy="6774590"/>
            <a:chOff x="0" y="0"/>
            <a:chExt cx="5515966" cy="9032786"/>
          </a:xfrm>
        </p:grpSpPr>
        <p:sp>
          <p:nvSpPr>
            <p:cNvPr name="Freeform 12" id="12" descr="preencoded.png"/>
            <p:cNvSpPr/>
            <p:nvPr/>
          </p:nvSpPr>
          <p:spPr>
            <a:xfrm flipH="false" flipV="false" rot="0">
              <a:off x="0" y="0"/>
              <a:ext cx="5515991" cy="9032748"/>
            </a:xfrm>
            <a:custGeom>
              <a:avLst/>
              <a:gdLst/>
              <a:ahLst/>
              <a:cxnLst/>
              <a:rect r="r" b="b" t="t" l="l"/>
              <a:pathLst>
                <a:path h="9032748" w="5515991">
                  <a:moveTo>
                    <a:pt x="0" y="0"/>
                  </a:moveTo>
                  <a:lnTo>
                    <a:pt x="5515991" y="0"/>
                  </a:lnTo>
                  <a:lnTo>
                    <a:pt x="5515991" y="9032748"/>
                  </a:lnTo>
                  <a:lnTo>
                    <a:pt x="0" y="9032748"/>
                  </a:lnTo>
                  <a:lnTo>
                    <a:pt x="0" y="0"/>
                  </a:lnTo>
                  <a:close/>
                </a:path>
              </a:pathLst>
            </a:custGeom>
            <a:blipFill>
              <a:blip r:embed="rId3"/>
              <a:stretch>
                <a:fillRect l="-94" t="0" r="-94" b="0"/>
              </a:stretch>
            </a:blipFill>
          </p:spPr>
        </p:sp>
      </p:gr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sp>
        <p:nvSpPr>
          <p:cNvPr name="TextBox 4" id="4"/>
          <p:cNvSpPr txBox="true"/>
          <p:nvPr/>
        </p:nvSpPr>
        <p:spPr>
          <a:xfrm rot="0">
            <a:off x="762581" y="743550"/>
            <a:ext cx="17539268" cy="282083"/>
          </a:xfrm>
          <a:prstGeom prst="rect">
            <a:avLst/>
          </a:prstGeom>
        </p:spPr>
        <p:txBody>
          <a:bodyPr anchor="t" rtlCol="false" tIns="0" lIns="0" bIns="0" rIns="0">
            <a:spAutoFit/>
          </a:bodyPr>
          <a:lstStyle/>
          <a:p>
            <a:pPr algn="l">
              <a:lnSpc>
                <a:spcPts val="2071"/>
              </a:lnSpc>
            </a:pPr>
            <a:r>
              <a:rPr lang="en-US" sz="1726" spc="69">
                <a:solidFill>
                  <a:srgbClr val="000000"/>
                </a:solidFill>
                <a:latin typeface="Arimo"/>
                <a:ea typeface="Arimo"/>
                <a:cs typeface="Arimo"/>
                <a:sym typeface="Arimo"/>
              </a:rPr>
              <a:t>THE LAST QUESTION</a:t>
            </a:r>
          </a:p>
        </p:txBody>
      </p:sp>
      <p:sp>
        <p:nvSpPr>
          <p:cNvPr name="TextBox 5" id="5"/>
          <p:cNvSpPr txBox="true"/>
          <p:nvPr/>
        </p:nvSpPr>
        <p:spPr>
          <a:xfrm rot="0">
            <a:off x="762581" y="1182891"/>
            <a:ext cx="16776687" cy="620678"/>
          </a:xfrm>
          <a:prstGeom prst="rect">
            <a:avLst/>
          </a:prstGeom>
        </p:spPr>
        <p:txBody>
          <a:bodyPr anchor="t" rtlCol="false" tIns="0" lIns="0" bIns="0" rIns="0">
            <a:spAutoFit/>
          </a:bodyPr>
          <a:lstStyle/>
          <a:p>
            <a:pPr algn="l">
              <a:lnSpc>
                <a:spcPts val="5188"/>
              </a:lnSpc>
            </a:pPr>
            <a:r>
              <a:rPr lang="en-US" sz="4803" spc="-96">
                <a:solidFill>
                  <a:srgbClr val="000000"/>
                </a:solidFill>
                <a:latin typeface="Arimo"/>
                <a:ea typeface="Arimo"/>
                <a:cs typeface="Arimo"/>
                <a:sym typeface="Arimo"/>
              </a:rPr>
              <a:t>What is the #1 limitation for every learner?</a:t>
            </a:r>
          </a:p>
        </p:txBody>
      </p:sp>
      <p:grpSp>
        <p:nvGrpSpPr>
          <p:cNvPr name="Group 6" id="6"/>
          <p:cNvGrpSpPr/>
          <p:nvPr/>
        </p:nvGrpSpPr>
        <p:grpSpPr>
          <a:xfrm rot="0">
            <a:off x="762581" y="2099072"/>
            <a:ext cx="16776687" cy="7433377"/>
            <a:chOff x="0" y="0"/>
            <a:chExt cx="22368916" cy="9911169"/>
          </a:xfrm>
        </p:grpSpPr>
        <p:sp>
          <p:nvSpPr>
            <p:cNvPr name="Freeform 7" id="7"/>
            <p:cNvSpPr/>
            <p:nvPr/>
          </p:nvSpPr>
          <p:spPr>
            <a:xfrm flipH="false" flipV="false" rot="0">
              <a:off x="0" y="0"/>
              <a:ext cx="22369019" cy="9911207"/>
            </a:xfrm>
            <a:custGeom>
              <a:avLst/>
              <a:gdLst/>
              <a:ahLst/>
              <a:cxnLst/>
              <a:rect r="r" b="b" t="t" l="l"/>
              <a:pathLst>
                <a:path h="9911207" w="22369019">
                  <a:moveTo>
                    <a:pt x="0" y="343154"/>
                  </a:moveTo>
                  <a:cubicBezTo>
                    <a:pt x="0" y="153670"/>
                    <a:pt x="153670" y="0"/>
                    <a:pt x="343154" y="0"/>
                  </a:cubicBezTo>
                  <a:lnTo>
                    <a:pt x="22025865" y="0"/>
                  </a:lnTo>
                  <a:cubicBezTo>
                    <a:pt x="22215348" y="0"/>
                    <a:pt x="22369019" y="153670"/>
                    <a:pt x="22369019" y="343154"/>
                  </a:cubicBezTo>
                  <a:lnTo>
                    <a:pt x="22369019" y="9568053"/>
                  </a:lnTo>
                  <a:cubicBezTo>
                    <a:pt x="22369019" y="9757537"/>
                    <a:pt x="22215348" y="9911207"/>
                    <a:pt x="22025865" y="9911207"/>
                  </a:cubicBezTo>
                  <a:lnTo>
                    <a:pt x="343154" y="9911207"/>
                  </a:lnTo>
                  <a:cubicBezTo>
                    <a:pt x="153670" y="9911207"/>
                    <a:pt x="0" y="9757537"/>
                    <a:pt x="0" y="9568053"/>
                  </a:cubicBezTo>
                  <a:close/>
                </a:path>
              </a:pathLst>
            </a:custGeom>
            <a:solidFill>
              <a:srgbClr val="0B2345"/>
            </a:solidFill>
          </p:spPr>
        </p:sp>
      </p:grpSp>
      <p:sp>
        <p:nvSpPr>
          <p:cNvPr name="TextBox 8" id="8"/>
          <p:cNvSpPr txBox="true"/>
          <p:nvPr/>
        </p:nvSpPr>
        <p:spPr>
          <a:xfrm rot="0">
            <a:off x="1448895" y="4350687"/>
            <a:ext cx="15404049" cy="1820828"/>
          </a:xfrm>
          <a:prstGeom prst="rect">
            <a:avLst/>
          </a:prstGeom>
        </p:spPr>
        <p:txBody>
          <a:bodyPr anchor="t" rtlCol="false" tIns="0" lIns="0" bIns="0" rIns="0">
            <a:spAutoFit/>
          </a:bodyPr>
          <a:lstStyle/>
          <a:p>
            <a:pPr algn="l">
              <a:lnSpc>
                <a:spcPts val="15672"/>
              </a:lnSpc>
            </a:pPr>
            <a:r>
              <a:rPr lang="en-US" sz="15011" spc="-450">
                <a:solidFill>
                  <a:srgbClr val="FFFFFF"/>
                </a:solidFill>
                <a:latin typeface="Arimo"/>
                <a:ea typeface="Arimo"/>
                <a:cs typeface="Arimo"/>
                <a:sym typeface="Arimo"/>
              </a:rPr>
              <a:t>TIME</a:t>
            </a:r>
          </a:p>
        </p:txBody>
      </p:sp>
      <p:sp>
        <p:nvSpPr>
          <p:cNvPr name="TextBox 9" id="9"/>
          <p:cNvSpPr txBox="true"/>
          <p:nvPr/>
        </p:nvSpPr>
        <p:spPr>
          <a:xfrm rot="0">
            <a:off x="1448895" y="6333573"/>
            <a:ext cx="15404049" cy="414357"/>
          </a:xfrm>
          <a:prstGeom prst="rect">
            <a:avLst/>
          </a:prstGeom>
        </p:spPr>
        <p:txBody>
          <a:bodyPr anchor="t" rtlCol="false" tIns="0" lIns="0" bIns="0" rIns="0">
            <a:spAutoFit/>
          </a:bodyPr>
          <a:lstStyle/>
          <a:p>
            <a:pPr algn="l">
              <a:lnSpc>
                <a:spcPts val="3177"/>
              </a:lnSpc>
            </a:pPr>
            <a:r>
              <a:rPr lang="en-US" sz="2702">
                <a:solidFill>
                  <a:srgbClr val="FFFFFF"/>
                </a:solidFill>
                <a:latin typeface="Arimo"/>
                <a:ea typeface="Arimo"/>
                <a:cs typeface="Arimo"/>
                <a:sym typeface="Arimo"/>
              </a:rPr>
              <a:t>Dense materials. Tight semester timelines.</a:t>
            </a:r>
          </a:p>
        </p:txBody>
      </p:sp>
      <p:sp>
        <p:nvSpPr>
          <p:cNvPr name="TextBox 10" id="10"/>
          <p:cNvSpPr txBox="true"/>
          <p:nvPr/>
        </p:nvSpPr>
        <p:spPr>
          <a:xfrm rot="0">
            <a:off x="1448895" y="6895738"/>
            <a:ext cx="16090373" cy="547021"/>
          </a:xfrm>
          <a:prstGeom prst="rect">
            <a:avLst/>
          </a:prstGeom>
        </p:spPr>
        <p:txBody>
          <a:bodyPr anchor="t" rtlCol="false" tIns="0" lIns="0" bIns="0" rIns="0">
            <a:spAutoFit/>
          </a:bodyPr>
          <a:lstStyle/>
          <a:p>
            <a:pPr algn="l">
              <a:lnSpc>
                <a:spcPts val="3793"/>
              </a:lnSpc>
            </a:pPr>
            <a:r>
              <a:rPr lang="en-US" sz="2702">
                <a:solidFill>
                  <a:srgbClr val="FFFFFF"/>
                </a:solidFill>
                <a:latin typeface="Arimo"/>
                <a:ea typeface="Arimo"/>
                <a:cs typeface="Arimo"/>
                <a:sym typeface="Arimo"/>
              </a:rPr>
              <a:t>Students are overwhelmed filtering study materials before they can focus on understanding them.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sp>
        <p:nvSpPr>
          <p:cNvPr name="TextBox 4" id="4"/>
          <p:cNvSpPr txBox="true"/>
          <p:nvPr/>
        </p:nvSpPr>
        <p:spPr>
          <a:xfrm rot="0">
            <a:off x="762581" y="743550"/>
            <a:ext cx="17539268" cy="282083"/>
          </a:xfrm>
          <a:prstGeom prst="rect">
            <a:avLst/>
          </a:prstGeom>
        </p:spPr>
        <p:txBody>
          <a:bodyPr anchor="t" rtlCol="false" tIns="0" lIns="0" bIns="0" rIns="0">
            <a:spAutoFit/>
          </a:bodyPr>
          <a:lstStyle/>
          <a:p>
            <a:pPr algn="l">
              <a:lnSpc>
                <a:spcPts val="2071"/>
              </a:lnSpc>
            </a:pPr>
            <a:r>
              <a:rPr lang="en-US" sz="1726" spc="69">
                <a:solidFill>
                  <a:srgbClr val="000000"/>
                </a:solidFill>
                <a:latin typeface="Arimo"/>
                <a:ea typeface="Arimo"/>
                <a:cs typeface="Arimo"/>
                <a:sym typeface="Arimo"/>
              </a:rPr>
              <a:t>THE PLATFORM</a:t>
            </a:r>
          </a:p>
        </p:txBody>
      </p:sp>
      <p:sp>
        <p:nvSpPr>
          <p:cNvPr name="TextBox 5" id="5"/>
          <p:cNvSpPr txBox="true"/>
          <p:nvPr/>
        </p:nvSpPr>
        <p:spPr>
          <a:xfrm rot="0">
            <a:off x="762581" y="1182891"/>
            <a:ext cx="16776687" cy="620678"/>
          </a:xfrm>
          <a:prstGeom prst="rect">
            <a:avLst/>
          </a:prstGeom>
        </p:spPr>
        <p:txBody>
          <a:bodyPr anchor="t" rtlCol="false" tIns="0" lIns="0" bIns="0" rIns="0">
            <a:spAutoFit/>
          </a:bodyPr>
          <a:lstStyle/>
          <a:p>
            <a:pPr algn="l">
              <a:lnSpc>
                <a:spcPts val="5188"/>
              </a:lnSpc>
            </a:pPr>
            <a:r>
              <a:rPr lang="en-US" sz="4803" spc="-96">
                <a:solidFill>
                  <a:srgbClr val="000000"/>
                </a:solidFill>
                <a:latin typeface="Arimo"/>
                <a:ea typeface="Arimo"/>
                <a:cs typeface="Arimo"/>
                <a:sym typeface="Arimo"/>
              </a:rPr>
              <a:t>Introducing BMC Academia</a:t>
            </a:r>
          </a:p>
        </p:txBody>
      </p:sp>
      <p:grpSp>
        <p:nvGrpSpPr>
          <p:cNvPr name="Group 6" id="6"/>
          <p:cNvGrpSpPr/>
          <p:nvPr/>
        </p:nvGrpSpPr>
        <p:grpSpPr>
          <a:xfrm rot="0">
            <a:off x="762581" y="2099072"/>
            <a:ext cx="7343670" cy="5016151"/>
            <a:chOff x="0" y="0"/>
            <a:chExt cx="9791560" cy="6688201"/>
          </a:xfrm>
        </p:grpSpPr>
        <p:sp>
          <p:nvSpPr>
            <p:cNvPr name="Freeform 7" id="7"/>
            <p:cNvSpPr/>
            <p:nvPr/>
          </p:nvSpPr>
          <p:spPr>
            <a:xfrm flipH="false" flipV="false" rot="0">
              <a:off x="0" y="0"/>
              <a:ext cx="9791573" cy="6688201"/>
            </a:xfrm>
            <a:custGeom>
              <a:avLst/>
              <a:gdLst/>
              <a:ahLst/>
              <a:cxnLst/>
              <a:rect r="r" b="b" t="t" l="l"/>
              <a:pathLst>
                <a:path h="6688201" w="9791573">
                  <a:moveTo>
                    <a:pt x="0" y="343154"/>
                  </a:moveTo>
                  <a:cubicBezTo>
                    <a:pt x="0" y="153670"/>
                    <a:pt x="153670" y="0"/>
                    <a:pt x="343154" y="0"/>
                  </a:cubicBezTo>
                  <a:lnTo>
                    <a:pt x="9448419" y="0"/>
                  </a:lnTo>
                  <a:cubicBezTo>
                    <a:pt x="9637902" y="0"/>
                    <a:pt x="9791573" y="153670"/>
                    <a:pt x="9791573" y="343154"/>
                  </a:cubicBezTo>
                  <a:lnTo>
                    <a:pt x="9791573" y="6345047"/>
                  </a:lnTo>
                  <a:cubicBezTo>
                    <a:pt x="9791573" y="6534531"/>
                    <a:pt x="9637902" y="6688201"/>
                    <a:pt x="9448419" y="6688201"/>
                  </a:cubicBezTo>
                  <a:lnTo>
                    <a:pt x="343154" y="6688201"/>
                  </a:lnTo>
                  <a:cubicBezTo>
                    <a:pt x="153670" y="6688201"/>
                    <a:pt x="0" y="6534531"/>
                    <a:pt x="0" y="6345047"/>
                  </a:cubicBezTo>
                  <a:close/>
                </a:path>
              </a:pathLst>
            </a:custGeom>
            <a:solidFill>
              <a:srgbClr val="BDE7FF"/>
            </a:solidFill>
          </p:spPr>
        </p:sp>
      </p:grpSp>
      <p:sp>
        <p:nvSpPr>
          <p:cNvPr name="TextBox 8" id="8"/>
          <p:cNvSpPr txBox="true"/>
          <p:nvPr/>
        </p:nvSpPr>
        <p:spPr>
          <a:xfrm rot="0">
            <a:off x="1220124" y="4087787"/>
            <a:ext cx="6428584" cy="414357"/>
          </a:xfrm>
          <a:prstGeom prst="rect">
            <a:avLst/>
          </a:prstGeom>
        </p:spPr>
        <p:txBody>
          <a:bodyPr anchor="t" rtlCol="false" tIns="0" lIns="0" bIns="0" rIns="0">
            <a:spAutoFit/>
          </a:bodyPr>
          <a:lstStyle/>
          <a:p>
            <a:pPr algn="l">
              <a:lnSpc>
                <a:spcPts val="3177"/>
              </a:lnSpc>
            </a:pPr>
            <a:r>
              <a:rPr lang="en-US" sz="2702">
                <a:solidFill>
                  <a:srgbClr val="000000"/>
                </a:solidFill>
                <a:latin typeface="Arimo"/>
                <a:ea typeface="Arimo"/>
                <a:cs typeface="Arimo"/>
                <a:sym typeface="Arimo"/>
              </a:rPr>
              <a:t>Exponential Knowledge</a:t>
            </a:r>
          </a:p>
        </p:txBody>
      </p:sp>
      <p:sp>
        <p:nvSpPr>
          <p:cNvPr name="TextBox 9" id="9"/>
          <p:cNvSpPr txBox="true"/>
          <p:nvPr/>
        </p:nvSpPr>
        <p:spPr>
          <a:xfrm rot="0">
            <a:off x="1220124" y="4659478"/>
            <a:ext cx="6886127" cy="457514"/>
          </a:xfrm>
          <a:prstGeom prst="rect">
            <a:avLst/>
          </a:prstGeom>
        </p:spPr>
        <p:txBody>
          <a:bodyPr anchor="t" rtlCol="false" tIns="0" lIns="0" bIns="0" rIns="0">
            <a:spAutoFit/>
          </a:bodyPr>
          <a:lstStyle/>
          <a:p>
            <a:pPr algn="l">
              <a:lnSpc>
                <a:spcPts val="3161"/>
              </a:lnSpc>
            </a:pPr>
            <a:r>
              <a:rPr lang="en-US" sz="2251">
                <a:solidFill>
                  <a:srgbClr val="000000"/>
                </a:solidFill>
                <a:latin typeface="Arimo"/>
                <a:ea typeface="Arimo"/>
                <a:cs typeface="Arimo"/>
                <a:sym typeface="Arimo"/>
              </a:rPr>
              <a:t>A growing volume to learn.</a:t>
            </a:r>
          </a:p>
        </p:txBody>
      </p:sp>
      <p:grpSp>
        <p:nvGrpSpPr>
          <p:cNvPr name="Group 10" id="10"/>
          <p:cNvGrpSpPr/>
          <p:nvPr/>
        </p:nvGrpSpPr>
        <p:grpSpPr>
          <a:xfrm rot="0">
            <a:off x="8334870" y="2099072"/>
            <a:ext cx="1632090" cy="5016151"/>
            <a:chOff x="0" y="0"/>
            <a:chExt cx="2176120" cy="6688201"/>
          </a:xfrm>
        </p:grpSpPr>
        <p:sp>
          <p:nvSpPr>
            <p:cNvPr name="Freeform 11" id="11"/>
            <p:cNvSpPr/>
            <p:nvPr/>
          </p:nvSpPr>
          <p:spPr>
            <a:xfrm flipH="false" flipV="false" rot="0">
              <a:off x="0" y="0"/>
              <a:ext cx="2176145" cy="6688201"/>
            </a:xfrm>
            <a:custGeom>
              <a:avLst/>
              <a:gdLst/>
              <a:ahLst/>
              <a:cxnLst/>
              <a:rect r="r" b="b" t="t" l="l"/>
              <a:pathLst>
                <a:path h="6688201" w="2176145">
                  <a:moveTo>
                    <a:pt x="0" y="343154"/>
                  </a:moveTo>
                  <a:cubicBezTo>
                    <a:pt x="0" y="153670"/>
                    <a:pt x="153670" y="0"/>
                    <a:pt x="343154" y="0"/>
                  </a:cubicBezTo>
                  <a:lnTo>
                    <a:pt x="1832991" y="0"/>
                  </a:lnTo>
                  <a:cubicBezTo>
                    <a:pt x="2022475" y="0"/>
                    <a:pt x="2176145" y="153670"/>
                    <a:pt x="2176145" y="343154"/>
                  </a:cubicBezTo>
                  <a:lnTo>
                    <a:pt x="2176145" y="6345047"/>
                  </a:lnTo>
                  <a:cubicBezTo>
                    <a:pt x="2176145" y="6534531"/>
                    <a:pt x="2022475" y="6688201"/>
                    <a:pt x="1832991" y="6688201"/>
                  </a:cubicBezTo>
                  <a:lnTo>
                    <a:pt x="343154" y="6688201"/>
                  </a:lnTo>
                  <a:cubicBezTo>
                    <a:pt x="153670" y="6688201"/>
                    <a:pt x="0" y="6534531"/>
                    <a:pt x="0" y="6345047"/>
                  </a:cubicBezTo>
                  <a:close/>
                </a:path>
              </a:pathLst>
            </a:custGeom>
            <a:solidFill>
              <a:srgbClr val="FFFFFF"/>
            </a:solidFill>
          </p:spPr>
        </p:sp>
      </p:grpSp>
      <p:grpSp>
        <p:nvGrpSpPr>
          <p:cNvPr name="Group 12" id="12"/>
          <p:cNvGrpSpPr/>
          <p:nvPr/>
        </p:nvGrpSpPr>
        <p:grpSpPr>
          <a:xfrm rot="0">
            <a:off x="8861079" y="4233453"/>
            <a:ext cx="579682" cy="894112"/>
            <a:chOff x="0" y="0"/>
            <a:chExt cx="772909" cy="1192149"/>
          </a:xfrm>
        </p:grpSpPr>
        <p:sp>
          <p:nvSpPr>
            <p:cNvPr name="Freeform 13" id="13" descr="preencoded.png"/>
            <p:cNvSpPr/>
            <p:nvPr/>
          </p:nvSpPr>
          <p:spPr>
            <a:xfrm flipH="false" flipV="false" rot="0">
              <a:off x="0" y="0"/>
              <a:ext cx="772922" cy="1192149"/>
            </a:xfrm>
            <a:custGeom>
              <a:avLst/>
              <a:gdLst/>
              <a:ahLst/>
              <a:cxnLst/>
              <a:rect r="r" b="b" t="t" l="l"/>
              <a:pathLst>
                <a:path h="1192149" w="772922">
                  <a:moveTo>
                    <a:pt x="0" y="0"/>
                  </a:moveTo>
                  <a:lnTo>
                    <a:pt x="772922" y="0"/>
                  </a:lnTo>
                  <a:lnTo>
                    <a:pt x="772922" y="1192149"/>
                  </a:lnTo>
                  <a:lnTo>
                    <a:pt x="0" y="1192149"/>
                  </a:lnTo>
                  <a:lnTo>
                    <a:pt x="0" y="0"/>
                  </a:lnTo>
                  <a:close/>
                </a:path>
              </a:pathLst>
            </a:custGeom>
            <a:blipFill>
              <a:blip r:embed="rId3"/>
              <a:stretch>
                <a:fillRect l="-47" t="0" r="-44" b="0"/>
              </a:stretch>
            </a:blipFill>
          </p:spPr>
        </p:sp>
      </p:grpSp>
      <p:grpSp>
        <p:nvGrpSpPr>
          <p:cNvPr name="Group 14" id="14"/>
          <p:cNvGrpSpPr/>
          <p:nvPr/>
        </p:nvGrpSpPr>
        <p:grpSpPr>
          <a:xfrm rot="0">
            <a:off x="10195589" y="2099072"/>
            <a:ext cx="7343670" cy="5016151"/>
            <a:chOff x="0" y="0"/>
            <a:chExt cx="9791560" cy="6688201"/>
          </a:xfrm>
        </p:grpSpPr>
        <p:sp>
          <p:nvSpPr>
            <p:cNvPr name="Freeform 15" id="15"/>
            <p:cNvSpPr/>
            <p:nvPr/>
          </p:nvSpPr>
          <p:spPr>
            <a:xfrm flipH="false" flipV="false" rot="0">
              <a:off x="0" y="0"/>
              <a:ext cx="9791573" cy="6688201"/>
            </a:xfrm>
            <a:custGeom>
              <a:avLst/>
              <a:gdLst/>
              <a:ahLst/>
              <a:cxnLst/>
              <a:rect r="r" b="b" t="t" l="l"/>
              <a:pathLst>
                <a:path h="6688201" w="9791573">
                  <a:moveTo>
                    <a:pt x="0" y="343154"/>
                  </a:moveTo>
                  <a:cubicBezTo>
                    <a:pt x="0" y="153670"/>
                    <a:pt x="153670" y="0"/>
                    <a:pt x="343154" y="0"/>
                  </a:cubicBezTo>
                  <a:lnTo>
                    <a:pt x="9448419" y="0"/>
                  </a:lnTo>
                  <a:cubicBezTo>
                    <a:pt x="9637902" y="0"/>
                    <a:pt x="9791573" y="153670"/>
                    <a:pt x="9791573" y="343154"/>
                  </a:cubicBezTo>
                  <a:lnTo>
                    <a:pt x="9791573" y="6345047"/>
                  </a:lnTo>
                  <a:cubicBezTo>
                    <a:pt x="9791573" y="6534531"/>
                    <a:pt x="9637902" y="6688201"/>
                    <a:pt x="9448419" y="6688201"/>
                  </a:cubicBezTo>
                  <a:lnTo>
                    <a:pt x="343154" y="6688201"/>
                  </a:lnTo>
                  <a:cubicBezTo>
                    <a:pt x="153670" y="6688201"/>
                    <a:pt x="0" y="6534531"/>
                    <a:pt x="0" y="6345047"/>
                  </a:cubicBezTo>
                  <a:close/>
                </a:path>
              </a:pathLst>
            </a:custGeom>
            <a:solidFill>
              <a:srgbClr val="BDE7FF"/>
            </a:solidFill>
          </p:spPr>
        </p:sp>
      </p:grpSp>
      <p:sp>
        <p:nvSpPr>
          <p:cNvPr name="TextBox 16" id="16"/>
          <p:cNvSpPr txBox="true"/>
          <p:nvPr/>
        </p:nvSpPr>
        <p:spPr>
          <a:xfrm rot="0">
            <a:off x="10653141" y="4087787"/>
            <a:ext cx="6428584" cy="414357"/>
          </a:xfrm>
          <a:prstGeom prst="rect">
            <a:avLst/>
          </a:prstGeom>
        </p:spPr>
        <p:txBody>
          <a:bodyPr anchor="t" rtlCol="false" tIns="0" lIns="0" bIns="0" rIns="0">
            <a:spAutoFit/>
          </a:bodyPr>
          <a:lstStyle/>
          <a:p>
            <a:pPr algn="l">
              <a:lnSpc>
                <a:spcPts val="3177"/>
              </a:lnSpc>
            </a:pPr>
            <a:r>
              <a:rPr lang="en-US" sz="2702">
                <a:solidFill>
                  <a:srgbClr val="000000"/>
                </a:solidFill>
                <a:latin typeface="Arimo"/>
                <a:ea typeface="Arimo"/>
                <a:cs typeface="Arimo"/>
                <a:sym typeface="Arimo"/>
              </a:rPr>
              <a:t>Finite Time</a:t>
            </a:r>
          </a:p>
        </p:txBody>
      </p:sp>
      <p:sp>
        <p:nvSpPr>
          <p:cNvPr name="TextBox 17" id="17"/>
          <p:cNvSpPr txBox="true"/>
          <p:nvPr/>
        </p:nvSpPr>
        <p:spPr>
          <a:xfrm rot="0">
            <a:off x="10653141" y="4659478"/>
            <a:ext cx="6886127" cy="457514"/>
          </a:xfrm>
          <a:prstGeom prst="rect">
            <a:avLst/>
          </a:prstGeom>
        </p:spPr>
        <p:txBody>
          <a:bodyPr anchor="t" rtlCol="false" tIns="0" lIns="0" bIns="0" rIns="0">
            <a:spAutoFit/>
          </a:bodyPr>
          <a:lstStyle/>
          <a:p>
            <a:pPr algn="l">
              <a:lnSpc>
                <a:spcPts val="3161"/>
              </a:lnSpc>
            </a:pPr>
            <a:r>
              <a:rPr lang="en-US" sz="2251">
                <a:solidFill>
                  <a:srgbClr val="000000"/>
                </a:solidFill>
                <a:latin typeface="Arimo"/>
                <a:ea typeface="Arimo"/>
                <a:cs typeface="Arimo"/>
                <a:sym typeface="Arimo"/>
              </a:rPr>
              <a:t>A limited window to learn it.</a:t>
            </a:r>
          </a:p>
        </p:txBody>
      </p:sp>
      <p:sp>
        <p:nvSpPr>
          <p:cNvPr name="TextBox 18" id="18"/>
          <p:cNvSpPr txBox="true"/>
          <p:nvPr/>
        </p:nvSpPr>
        <p:spPr>
          <a:xfrm rot="0">
            <a:off x="305029" y="7286882"/>
            <a:ext cx="17691783" cy="640083"/>
          </a:xfrm>
          <a:prstGeom prst="rect">
            <a:avLst/>
          </a:prstGeom>
        </p:spPr>
        <p:txBody>
          <a:bodyPr anchor="t" rtlCol="false" tIns="0" lIns="0" bIns="0" rIns="0">
            <a:spAutoFit/>
          </a:bodyPr>
          <a:lstStyle/>
          <a:p>
            <a:pPr algn="ctr">
              <a:lnSpc>
                <a:spcPts val="5058"/>
              </a:lnSpc>
            </a:pPr>
            <a:r>
              <a:rPr lang="en-US" sz="3602">
                <a:solidFill>
                  <a:srgbClr val="000000"/>
                </a:solidFill>
                <a:latin typeface="Arimo"/>
                <a:ea typeface="Arimo"/>
                <a:cs typeface="Arimo"/>
                <a:sym typeface="Arimo"/>
              </a:rPr>
              <a:t> High-Efficiency Learning</a:t>
            </a:r>
          </a:p>
        </p:txBody>
      </p:sp>
      <p:grpSp>
        <p:nvGrpSpPr>
          <p:cNvPr name="Group 19" id="19"/>
          <p:cNvGrpSpPr/>
          <p:nvPr/>
        </p:nvGrpSpPr>
        <p:grpSpPr>
          <a:xfrm rot="0">
            <a:off x="5701751" y="7477458"/>
            <a:ext cx="347624" cy="536496"/>
            <a:chOff x="0" y="0"/>
            <a:chExt cx="463499" cy="715328"/>
          </a:xfrm>
        </p:grpSpPr>
        <p:sp>
          <p:nvSpPr>
            <p:cNvPr name="Freeform 20" id="20" descr="preencoded.png"/>
            <p:cNvSpPr/>
            <p:nvPr/>
          </p:nvSpPr>
          <p:spPr>
            <a:xfrm flipH="false" flipV="false" rot="0">
              <a:off x="0" y="0"/>
              <a:ext cx="463550" cy="715391"/>
            </a:xfrm>
            <a:custGeom>
              <a:avLst/>
              <a:gdLst/>
              <a:ahLst/>
              <a:cxnLst/>
              <a:rect r="r" b="b" t="t" l="l"/>
              <a:pathLst>
                <a:path h="715391" w="463550">
                  <a:moveTo>
                    <a:pt x="0" y="0"/>
                  </a:moveTo>
                  <a:lnTo>
                    <a:pt x="463550" y="0"/>
                  </a:lnTo>
                  <a:lnTo>
                    <a:pt x="463550" y="715391"/>
                  </a:lnTo>
                  <a:lnTo>
                    <a:pt x="0" y="715391"/>
                  </a:lnTo>
                  <a:lnTo>
                    <a:pt x="0" y="0"/>
                  </a:lnTo>
                  <a:close/>
                </a:path>
              </a:pathLst>
            </a:custGeom>
            <a:blipFill>
              <a:blip r:embed="rId4"/>
              <a:stretch>
                <a:fillRect l="-90" t="0" r="-79" b="8"/>
              </a:stretch>
            </a:blipFill>
          </p:spPr>
        </p:sp>
      </p:grpSp>
      <p:grpSp>
        <p:nvGrpSpPr>
          <p:cNvPr name="Group 21" id="21"/>
          <p:cNvGrpSpPr/>
          <p:nvPr/>
        </p:nvGrpSpPr>
        <p:grpSpPr>
          <a:xfrm rot="0">
            <a:off x="762581" y="8289503"/>
            <a:ext cx="16776687" cy="1242936"/>
            <a:chOff x="0" y="0"/>
            <a:chExt cx="22368916" cy="1657248"/>
          </a:xfrm>
        </p:grpSpPr>
        <p:sp>
          <p:nvSpPr>
            <p:cNvPr name="Freeform 22" id="22"/>
            <p:cNvSpPr/>
            <p:nvPr/>
          </p:nvSpPr>
          <p:spPr>
            <a:xfrm flipH="false" flipV="false" rot="0">
              <a:off x="0" y="0"/>
              <a:ext cx="22368892" cy="1657223"/>
            </a:xfrm>
            <a:custGeom>
              <a:avLst/>
              <a:gdLst/>
              <a:ahLst/>
              <a:cxnLst/>
              <a:rect r="r" b="b" t="t" l="l"/>
              <a:pathLst>
                <a:path h="1657223" w="22368892">
                  <a:moveTo>
                    <a:pt x="0" y="343154"/>
                  </a:moveTo>
                  <a:cubicBezTo>
                    <a:pt x="0" y="153670"/>
                    <a:pt x="153670" y="0"/>
                    <a:pt x="343154" y="0"/>
                  </a:cubicBezTo>
                  <a:lnTo>
                    <a:pt x="22025738" y="0"/>
                  </a:lnTo>
                  <a:cubicBezTo>
                    <a:pt x="22215222" y="0"/>
                    <a:pt x="22368892" y="153670"/>
                    <a:pt x="22368892" y="343154"/>
                  </a:cubicBezTo>
                  <a:lnTo>
                    <a:pt x="22368892" y="1314069"/>
                  </a:lnTo>
                  <a:cubicBezTo>
                    <a:pt x="22368892" y="1503553"/>
                    <a:pt x="22215222" y="1657223"/>
                    <a:pt x="22025738" y="1657223"/>
                  </a:cubicBezTo>
                  <a:lnTo>
                    <a:pt x="343154" y="1657223"/>
                  </a:lnTo>
                  <a:cubicBezTo>
                    <a:pt x="153670" y="1657223"/>
                    <a:pt x="0" y="1503553"/>
                    <a:pt x="0" y="1314069"/>
                  </a:cubicBezTo>
                  <a:close/>
                </a:path>
              </a:pathLst>
            </a:custGeom>
            <a:solidFill>
              <a:srgbClr val="0B2345"/>
            </a:solidFill>
          </p:spPr>
        </p:sp>
      </p:grpSp>
      <p:sp>
        <p:nvSpPr>
          <p:cNvPr name="TextBox 23" id="23"/>
          <p:cNvSpPr txBox="true"/>
          <p:nvPr/>
        </p:nvSpPr>
        <p:spPr>
          <a:xfrm rot="0">
            <a:off x="1220124" y="8604133"/>
            <a:ext cx="16319144" cy="547021"/>
          </a:xfrm>
          <a:prstGeom prst="rect">
            <a:avLst/>
          </a:prstGeom>
        </p:spPr>
        <p:txBody>
          <a:bodyPr anchor="t" rtlCol="false" tIns="0" lIns="0" bIns="0" rIns="0">
            <a:spAutoFit/>
          </a:bodyPr>
          <a:lstStyle/>
          <a:p>
            <a:pPr algn="l">
              <a:lnSpc>
                <a:spcPts val="3793"/>
              </a:lnSpc>
            </a:pPr>
            <a:r>
              <a:rPr lang="en-US" sz="2702">
                <a:solidFill>
                  <a:srgbClr val="FFFFFF"/>
                </a:solidFill>
                <a:latin typeface="Arimo"/>
                <a:ea typeface="Arimo"/>
                <a:cs typeface="Arimo"/>
                <a:sym typeface="Arimo"/>
              </a:rPr>
              <a:t>A unified platform for BMC students across all faculties to absorb maximum knowledge in minimal time.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sp>
        <p:nvSpPr>
          <p:cNvPr name="TextBox 4" id="4"/>
          <p:cNvSpPr txBox="true"/>
          <p:nvPr/>
        </p:nvSpPr>
        <p:spPr>
          <a:xfrm rot="0">
            <a:off x="762581" y="743550"/>
            <a:ext cx="17539268" cy="282083"/>
          </a:xfrm>
          <a:prstGeom prst="rect">
            <a:avLst/>
          </a:prstGeom>
        </p:spPr>
        <p:txBody>
          <a:bodyPr anchor="t" rtlCol="false" tIns="0" lIns="0" bIns="0" rIns="0">
            <a:spAutoFit/>
          </a:bodyPr>
          <a:lstStyle/>
          <a:p>
            <a:pPr algn="l">
              <a:lnSpc>
                <a:spcPts val="2071"/>
              </a:lnSpc>
            </a:pPr>
            <a:r>
              <a:rPr lang="en-US" sz="1726" spc="69">
                <a:solidFill>
                  <a:srgbClr val="000000"/>
                </a:solidFill>
                <a:latin typeface="Arimo"/>
                <a:ea typeface="Arimo"/>
                <a:cs typeface="Arimo"/>
                <a:sym typeface="Arimo"/>
              </a:rPr>
              <a:t>LEARNING TOOLKIT</a:t>
            </a:r>
          </a:p>
        </p:txBody>
      </p:sp>
      <p:sp>
        <p:nvSpPr>
          <p:cNvPr name="TextBox 5" id="5"/>
          <p:cNvSpPr txBox="true"/>
          <p:nvPr/>
        </p:nvSpPr>
        <p:spPr>
          <a:xfrm rot="0">
            <a:off x="762581" y="1182891"/>
            <a:ext cx="16776687" cy="620678"/>
          </a:xfrm>
          <a:prstGeom prst="rect">
            <a:avLst/>
          </a:prstGeom>
        </p:spPr>
        <p:txBody>
          <a:bodyPr anchor="t" rtlCol="false" tIns="0" lIns="0" bIns="0" rIns="0">
            <a:spAutoFit/>
          </a:bodyPr>
          <a:lstStyle/>
          <a:p>
            <a:pPr algn="l">
              <a:lnSpc>
                <a:spcPts val="5188"/>
              </a:lnSpc>
            </a:pPr>
            <a:r>
              <a:rPr lang="en-US" sz="4803" spc="-96">
                <a:solidFill>
                  <a:srgbClr val="000000"/>
                </a:solidFill>
                <a:latin typeface="Arimo"/>
                <a:ea typeface="Arimo"/>
                <a:cs typeface="Arimo"/>
                <a:sym typeface="Arimo"/>
              </a:rPr>
              <a:t>Core Features</a:t>
            </a:r>
          </a:p>
        </p:txBody>
      </p:sp>
      <p:grpSp>
        <p:nvGrpSpPr>
          <p:cNvPr name="Group 6" id="6"/>
          <p:cNvGrpSpPr/>
          <p:nvPr/>
        </p:nvGrpSpPr>
        <p:grpSpPr>
          <a:xfrm rot="0">
            <a:off x="762581" y="2099072"/>
            <a:ext cx="8273958" cy="3602222"/>
            <a:chOff x="0" y="0"/>
            <a:chExt cx="11031944" cy="4802962"/>
          </a:xfrm>
        </p:grpSpPr>
        <p:sp>
          <p:nvSpPr>
            <p:cNvPr name="Freeform 7" id="7"/>
            <p:cNvSpPr/>
            <p:nvPr/>
          </p:nvSpPr>
          <p:spPr>
            <a:xfrm flipH="false" flipV="false" rot="0">
              <a:off x="0" y="0"/>
              <a:ext cx="11031982" cy="4802886"/>
            </a:xfrm>
            <a:custGeom>
              <a:avLst/>
              <a:gdLst/>
              <a:ahLst/>
              <a:cxnLst/>
              <a:rect r="r" b="b" t="t" l="l"/>
              <a:pathLst>
                <a:path h="4802886" w="11031982">
                  <a:moveTo>
                    <a:pt x="0" y="343154"/>
                  </a:moveTo>
                  <a:cubicBezTo>
                    <a:pt x="0" y="153670"/>
                    <a:pt x="153670" y="0"/>
                    <a:pt x="343154" y="0"/>
                  </a:cubicBezTo>
                  <a:lnTo>
                    <a:pt x="10688828" y="0"/>
                  </a:lnTo>
                  <a:cubicBezTo>
                    <a:pt x="10878312" y="0"/>
                    <a:pt x="11031982" y="153670"/>
                    <a:pt x="11031982" y="343154"/>
                  </a:cubicBezTo>
                  <a:lnTo>
                    <a:pt x="11031982" y="4459732"/>
                  </a:lnTo>
                  <a:cubicBezTo>
                    <a:pt x="11031982" y="4649216"/>
                    <a:pt x="10878312" y="4802886"/>
                    <a:pt x="10688828" y="4802886"/>
                  </a:cubicBezTo>
                  <a:lnTo>
                    <a:pt x="343154" y="4802886"/>
                  </a:lnTo>
                  <a:cubicBezTo>
                    <a:pt x="153670" y="4803013"/>
                    <a:pt x="0" y="4649343"/>
                    <a:pt x="0" y="4459732"/>
                  </a:cubicBezTo>
                  <a:close/>
                </a:path>
              </a:pathLst>
            </a:custGeom>
            <a:solidFill>
              <a:srgbClr val="BDE7FF"/>
            </a:solidFill>
          </p:spPr>
        </p:sp>
      </p:grpSp>
      <p:grpSp>
        <p:nvGrpSpPr>
          <p:cNvPr name="Group 8" id="8"/>
          <p:cNvGrpSpPr/>
          <p:nvPr/>
        </p:nvGrpSpPr>
        <p:grpSpPr>
          <a:xfrm rot="0">
            <a:off x="1143867" y="2480377"/>
            <a:ext cx="714918" cy="714937"/>
            <a:chOff x="0" y="0"/>
            <a:chExt cx="953224" cy="953249"/>
          </a:xfrm>
        </p:grpSpPr>
        <p:sp>
          <p:nvSpPr>
            <p:cNvPr name="Freeform 9" id="9" descr="preencoded.png"/>
            <p:cNvSpPr/>
            <p:nvPr/>
          </p:nvSpPr>
          <p:spPr>
            <a:xfrm flipH="false" flipV="false" rot="0">
              <a:off x="0" y="0"/>
              <a:ext cx="953262" cy="953262"/>
            </a:xfrm>
            <a:custGeom>
              <a:avLst/>
              <a:gdLst/>
              <a:ahLst/>
              <a:cxnLst/>
              <a:rect r="r" b="b" t="t" l="l"/>
              <a:pathLst>
                <a:path h="953262" w="953262">
                  <a:moveTo>
                    <a:pt x="0" y="0"/>
                  </a:moveTo>
                  <a:lnTo>
                    <a:pt x="953262" y="0"/>
                  </a:lnTo>
                  <a:lnTo>
                    <a:pt x="953262" y="953262"/>
                  </a:lnTo>
                  <a:lnTo>
                    <a:pt x="0" y="953262"/>
                  </a:lnTo>
                  <a:lnTo>
                    <a:pt x="0" y="0"/>
                  </a:lnTo>
                  <a:close/>
                </a:path>
              </a:pathLst>
            </a:custGeom>
            <a:blipFill>
              <a:blip r:embed="rId3"/>
              <a:stretch>
                <a:fillRect l="-1" t="0" r="2" b="1"/>
              </a:stretch>
            </a:blipFill>
          </p:spPr>
        </p:sp>
      </p:grpSp>
      <p:sp>
        <p:nvSpPr>
          <p:cNvPr name="TextBox 10" id="10"/>
          <p:cNvSpPr txBox="true"/>
          <p:nvPr/>
        </p:nvSpPr>
        <p:spPr>
          <a:xfrm rot="0">
            <a:off x="1143867" y="3376432"/>
            <a:ext cx="7511377" cy="414357"/>
          </a:xfrm>
          <a:prstGeom prst="rect">
            <a:avLst/>
          </a:prstGeom>
        </p:spPr>
        <p:txBody>
          <a:bodyPr anchor="t" rtlCol="false" tIns="0" lIns="0" bIns="0" rIns="0">
            <a:spAutoFit/>
          </a:bodyPr>
          <a:lstStyle/>
          <a:p>
            <a:pPr algn="l">
              <a:lnSpc>
                <a:spcPts val="3177"/>
              </a:lnSpc>
            </a:pPr>
            <a:r>
              <a:rPr lang="en-US" sz="2702">
                <a:solidFill>
                  <a:srgbClr val="000000"/>
                </a:solidFill>
                <a:latin typeface="Arimo"/>
                <a:ea typeface="Arimo"/>
                <a:cs typeface="Arimo"/>
                <a:sym typeface="Arimo"/>
              </a:rPr>
              <a:t>Concise Notes</a:t>
            </a:r>
          </a:p>
        </p:txBody>
      </p:sp>
      <p:sp>
        <p:nvSpPr>
          <p:cNvPr name="TextBox 11" id="11"/>
          <p:cNvSpPr txBox="true"/>
          <p:nvPr/>
        </p:nvSpPr>
        <p:spPr>
          <a:xfrm rot="0">
            <a:off x="1143867" y="3948112"/>
            <a:ext cx="7892672" cy="457514"/>
          </a:xfrm>
          <a:prstGeom prst="rect">
            <a:avLst/>
          </a:prstGeom>
        </p:spPr>
        <p:txBody>
          <a:bodyPr anchor="t" rtlCol="false" tIns="0" lIns="0" bIns="0" rIns="0">
            <a:spAutoFit/>
          </a:bodyPr>
          <a:lstStyle/>
          <a:p>
            <a:pPr algn="l">
              <a:lnSpc>
                <a:spcPts val="3161"/>
              </a:lnSpc>
            </a:pPr>
            <a:r>
              <a:rPr lang="en-US" sz="2251">
                <a:solidFill>
                  <a:srgbClr val="000000"/>
                </a:solidFill>
                <a:latin typeface="Arimo"/>
                <a:ea typeface="Arimo"/>
                <a:cs typeface="Arimo"/>
                <a:sym typeface="Arimo"/>
              </a:rPr>
              <a:t>High-yield, short summaries of complex lecture topics.</a:t>
            </a:r>
          </a:p>
        </p:txBody>
      </p:sp>
      <p:grpSp>
        <p:nvGrpSpPr>
          <p:cNvPr name="Group 12" id="12"/>
          <p:cNvGrpSpPr/>
          <p:nvPr/>
        </p:nvGrpSpPr>
        <p:grpSpPr>
          <a:xfrm rot="0">
            <a:off x="9265310" y="2099072"/>
            <a:ext cx="8273958" cy="3602222"/>
            <a:chOff x="0" y="0"/>
            <a:chExt cx="11031944" cy="4802962"/>
          </a:xfrm>
        </p:grpSpPr>
        <p:sp>
          <p:nvSpPr>
            <p:cNvPr name="Freeform 13" id="13"/>
            <p:cNvSpPr/>
            <p:nvPr/>
          </p:nvSpPr>
          <p:spPr>
            <a:xfrm flipH="false" flipV="false" rot="0">
              <a:off x="0" y="0"/>
              <a:ext cx="11031982" cy="4802886"/>
            </a:xfrm>
            <a:custGeom>
              <a:avLst/>
              <a:gdLst/>
              <a:ahLst/>
              <a:cxnLst/>
              <a:rect r="r" b="b" t="t" l="l"/>
              <a:pathLst>
                <a:path h="4802886" w="11031982">
                  <a:moveTo>
                    <a:pt x="0" y="343154"/>
                  </a:moveTo>
                  <a:cubicBezTo>
                    <a:pt x="0" y="153670"/>
                    <a:pt x="153670" y="0"/>
                    <a:pt x="343154" y="0"/>
                  </a:cubicBezTo>
                  <a:lnTo>
                    <a:pt x="10688828" y="0"/>
                  </a:lnTo>
                  <a:cubicBezTo>
                    <a:pt x="10878312" y="0"/>
                    <a:pt x="11031982" y="153670"/>
                    <a:pt x="11031982" y="343154"/>
                  </a:cubicBezTo>
                  <a:lnTo>
                    <a:pt x="11031982" y="4459732"/>
                  </a:lnTo>
                  <a:cubicBezTo>
                    <a:pt x="11031982" y="4649216"/>
                    <a:pt x="10878312" y="4802886"/>
                    <a:pt x="10688828" y="4802886"/>
                  </a:cubicBezTo>
                  <a:lnTo>
                    <a:pt x="343154" y="4802886"/>
                  </a:lnTo>
                  <a:cubicBezTo>
                    <a:pt x="153670" y="4803013"/>
                    <a:pt x="0" y="4649343"/>
                    <a:pt x="0" y="4459732"/>
                  </a:cubicBezTo>
                  <a:close/>
                </a:path>
              </a:pathLst>
            </a:custGeom>
            <a:solidFill>
              <a:srgbClr val="BDE7FF"/>
            </a:solidFill>
          </p:spPr>
        </p:sp>
      </p:grpSp>
      <p:sp>
        <p:nvSpPr>
          <p:cNvPr name="TextBox 14" id="14"/>
          <p:cNvSpPr txBox="true"/>
          <p:nvPr/>
        </p:nvSpPr>
        <p:spPr>
          <a:xfrm rot="0">
            <a:off x="9646596" y="2976067"/>
            <a:ext cx="7511377" cy="414357"/>
          </a:xfrm>
          <a:prstGeom prst="rect">
            <a:avLst/>
          </a:prstGeom>
        </p:spPr>
        <p:txBody>
          <a:bodyPr anchor="t" rtlCol="false" tIns="0" lIns="0" bIns="0" rIns="0">
            <a:spAutoFit/>
          </a:bodyPr>
          <a:lstStyle/>
          <a:p>
            <a:pPr algn="l">
              <a:lnSpc>
                <a:spcPts val="3177"/>
              </a:lnSpc>
            </a:pPr>
            <a:r>
              <a:rPr lang="en-US" sz="2702">
                <a:solidFill>
                  <a:srgbClr val="000000"/>
                </a:solidFill>
                <a:latin typeface="Arimo"/>
                <a:ea typeface="Arimo"/>
                <a:cs typeface="Arimo"/>
                <a:sym typeface="Arimo"/>
              </a:rPr>
              <a:t>Smart Flashcards</a:t>
            </a:r>
          </a:p>
        </p:txBody>
      </p:sp>
      <p:sp>
        <p:nvSpPr>
          <p:cNvPr name="TextBox 15" id="15"/>
          <p:cNvSpPr txBox="true"/>
          <p:nvPr/>
        </p:nvSpPr>
        <p:spPr>
          <a:xfrm rot="0">
            <a:off x="9646596" y="3547748"/>
            <a:ext cx="7892672" cy="457514"/>
          </a:xfrm>
          <a:prstGeom prst="rect">
            <a:avLst/>
          </a:prstGeom>
        </p:spPr>
        <p:txBody>
          <a:bodyPr anchor="t" rtlCol="false" tIns="0" lIns="0" bIns="0" rIns="0">
            <a:spAutoFit/>
          </a:bodyPr>
          <a:lstStyle/>
          <a:p>
            <a:pPr algn="l">
              <a:lnSpc>
                <a:spcPts val="3161"/>
              </a:lnSpc>
            </a:pPr>
            <a:r>
              <a:rPr lang="en-US" sz="2251">
                <a:solidFill>
                  <a:srgbClr val="000000"/>
                </a:solidFill>
                <a:latin typeface="Arimo"/>
                <a:ea typeface="Arimo"/>
                <a:cs typeface="Arimo"/>
                <a:sym typeface="Arimo"/>
              </a:rPr>
              <a:t>Active recall cards for quick concept revision.</a:t>
            </a:r>
          </a:p>
        </p:txBody>
      </p:sp>
      <p:grpSp>
        <p:nvGrpSpPr>
          <p:cNvPr name="Group 16" id="16"/>
          <p:cNvGrpSpPr/>
          <p:nvPr/>
        </p:nvGrpSpPr>
        <p:grpSpPr>
          <a:xfrm rot="0">
            <a:off x="762581" y="5930075"/>
            <a:ext cx="8273958" cy="3602374"/>
            <a:chOff x="0" y="0"/>
            <a:chExt cx="11031944" cy="4803165"/>
          </a:xfrm>
        </p:grpSpPr>
        <p:sp>
          <p:nvSpPr>
            <p:cNvPr name="Freeform 17" id="17"/>
            <p:cNvSpPr/>
            <p:nvPr/>
          </p:nvSpPr>
          <p:spPr>
            <a:xfrm flipH="false" flipV="false" rot="0">
              <a:off x="0" y="0"/>
              <a:ext cx="11031982" cy="4803140"/>
            </a:xfrm>
            <a:custGeom>
              <a:avLst/>
              <a:gdLst/>
              <a:ahLst/>
              <a:cxnLst/>
              <a:rect r="r" b="b" t="t" l="l"/>
              <a:pathLst>
                <a:path h="4803140" w="11031982">
                  <a:moveTo>
                    <a:pt x="0" y="343154"/>
                  </a:moveTo>
                  <a:cubicBezTo>
                    <a:pt x="0" y="153670"/>
                    <a:pt x="153670" y="0"/>
                    <a:pt x="343154" y="0"/>
                  </a:cubicBezTo>
                  <a:lnTo>
                    <a:pt x="10688828" y="0"/>
                  </a:lnTo>
                  <a:cubicBezTo>
                    <a:pt x="10878312" y="0"/>
                    <a:pt x="11031982" y="153670"/>
                    <a:pt x="11031982" y="343154"/>
                  </a:cubicBezTo>
                  <a:lnTo>
                    <a:pt x="11031982" y="4459986"/>
                  </a:lnTo>
                  <a:cubicBezTo>
                    <a:pt x="11031982" y="4649470"/>
                    <a:pt x="10878312" y="4803140"/>
                    <a:pt x="10688828" y="4803140"/>
                  </a:cubicBezTo>
                  <a:lnTo>
                    <a:pt x="343154" y="4803140"/>
                  </a:lnTo>
                  <a:cubicBezTo>
                    <a:pt x="153670" y="4803140"/>
                    <a:pt x="0" y="4649597"/>
                    <a:pt x="0" y="4459986"/>
                  </a:cubicBezTo>
                  <a:close/>
                </a:path>
              </a:pathLst>
            </a:custGeom>
            <a:solidFill>
              <a:srgbClr val="BDE7FF"/>
            </a:solidFill>
          </p:spPr>
        </p:sp>
      </p:grpSp>
      <p:grpSp>
        <p:nvGrpSpPr>
          <p:cNvPr name="Group 18" id="18"/>
          <p:cNvGrpSpPr/>
          <p:nvPr/>
        </p:nvGrpSpPr>
        <p:grpSpPr>
          <a:xfrm rot="0">
            <a:off x="1143867" y="6311370"/>
            <a:ext cx="714918" cy="714937"/>
            <a:chOff x="0" y="0"/>
            <a:chExt cx="953224" cy="953249"/>
          </a:xfrm>
        </p:grpSpPr>
        <p:sp>
          <p:nvSpPr>
            <p:cNvPr name="Freeform 19" id="19" descr="preencoded.png"/>
            <p:cNvSpPr/>
            <p:nvPr/>
          </p:nvSpPr>
          <p:spPr>
            <a:xfrm flipH="false" flipV="false" rot="0">
              <a:off x="0" y="0"/>
              <a:ext cx="953262" cy="953262"/>
            </a:xfrm>
            <a:custGeom>
              <a:avLst/>
              <a:gdLst/>
              <a:ahLst/>
              <a:cxnLst/>
              <a:rect r="r" b="b" t="t" l="l"/>
              <a:pathLst>
                <a:path h="953262" w="953262">
                  <a:moveTo>
                    <a:pt x="0" y="0"/>
                  </a:moveTo>
                  <a:lnTo>
                    <a:pt x="953262" y="0"/>
                  </a:lnTo>
                  <a:lnTo>
                    <a:pt x="953262" y="953262"/>
                  </a:lnTo>
                  <a:lnTo>
                    <a:pt x="0" y="953262"/>
                  </a:lnTo>
                  <a:lnTo>
                    <a:pt x="0" y="0"/>
                  </a:lnTo>
                  <a:close/>
                </a:path>
              </a:pathLst>
            </a:custGeom>
            <a:blipFill>
              <a:blip r:embed="rId4"/>
              <a:stretch>
                <a:fillRect l="-1" t="0" r="2" b="1"/>
              </a:stretch>
            </a:blipFill>
          </p:spPr>
        </p:sp>
      </p:grpSp>
      <p:sp>
        <p:nvSpPr>
          <p:cNvPr name="TextBox 20" id="20"/>
          <p:cNvSpPr txBox="true"/>
          <p:nvPr/>
        </p:nvSpPr>
        <p:spPr>
          <a:xfrm rot="0">
            <a:off x="1143867" y="7207434"/>
            <a:ext cx="7511377" cy="414357"/>
          </a:xfrm>
          <a:prstGeom prst="rect">
            <a:avLst/>
          </a:prstGeom>
        </p:spPr>
        <p:txBody>
          <a:bodyPr anchor="t" rtlCol="false" tIns="0" lIns="0" bIns="0" rIns="0">
            <a:spAutoFit/>
          </a:bodyPr>
          <a:lstStyle/>
          <a:p>
            <a:pPr algn="l">
              <a:lnSpc>
                <a:spcPts val="3177"/>
              </a:lnSpc>
            </a:pPr>
            <a:r>
              <a:rPr lang="en-US" sz="2702">
                <a:solidFill>
                  <a:srgbClr val="000000"/>
                </a:solidFill>
                <a:latin typeface="Arimo"/>
                <a:ea typeface="Arimo"/>
                <a:cs typeface="Arimo"/>
                <a:sym typeface="Arimo"/>
              </a:rPr>
              <a:t>PYQs &amp; Solutions</a:t>
            </a:r>
          </a:p>
        </p:txBody>
      </p:sp>
      <p:sp>
        <p:nvSpPr>
          <p:cNvPr name="TextBox 21" id="21"/>
          <p:cNvSpPr txBox="true"/>
          <p:nvPr/>
        </p:nvSpPr>
        <p:spPr>
          <a:xfrm rot="0">
            <a:off x="1143867" y="7779115"/>
            <a:ext cx="7511377" cy="857879"/>
          </a:xfrm>
          <a:prstGeom prst="rect">
            <a:avLst/>
          </a:prstGeom>
        </p:spPr>
        <p:txBody>
          <a:bodyPr anchor="t" rtlCol="false" tIns="0" lIns="0" bIns="0" rIns="0">
            <a:spAutoFit/>
          </a:bodyPr>
          <a:lstStyle/>
          <a:p>
            <a:pPr algn="l">
              <a:lnSpc>
                <a:spcPts val="3161"/>
              </a:lnSpc>
            </a:pPr>
            <a:r>
              <a:rPr lang="en-US" sz="2251">
                <a:solidFill>
                  <a:srgbClr val="000000"/>
                </a:solidFill>
                <a:latin typeface="Arimo"/>
                <a:ea typeface="Arimo"/>
                <a:cs typeface="Arimo"/>
                <a:sym typeface="Arimo"/>
              </a:rPr>
              <a:t>Past year questions with detailed solutions for exam confidence.</a:t>
            </a:r>
          </a:p>
        </p:txBody>
      </p:sp>
      <p:grpSp>
        <p:nvGrpSpPr>
          <p:cNvPr name="Group 22" id="22"/>
          <p:cNvGrpSpPr/>
          <p:nvPr/>
        </p:nvGrpSpPr>
        <p:grpSpPr>
          <a:xfrm rot="0">
            <a:off x="9265310" y="5930075"/>
            <a:ext cx="8273958" cy="3602374"/>
            <a:chOff x="0" y="0"/>
            <a:chExt cx="11031944" cy="4803165"/>
          </a:xfrm>
        </p:grpSpPr>
        <p:sp>
          <p:nvSpPr>
            <p:cNvPr name="Freeform 23" id="23"/>
            <p:cNvSpPr/>
            <p:nvPr/>
          </p:nvSpPr>
          <p:spPr>
            <a:xfrm flipH="false" flipV="false" rot="0">
              <a:off x="0" y="0"/>
              <a:ext cx="11031982" cy="4803140"/>
            </a:xfrm>
            <a:custGeom>
              <a:avLst/>
              <a:gdLst/>
              <a:ahLst/>
              <a:cxnLst/>
              <a:rect r="r" b="b" t="t" l="l"/>
              <a:pathLst>
                <a:path h="4803140" w="11031982">
                  <a:moveTo>
                    <a:pt x="0" y="343154"/>
                  </a:moveTo>
                  <a:cubicBezTo>
                    <a:pt x="0" y="153670"/>
                    <a:pt x="153670" y="0"/>
                    <a:pt x="343154" y="0"/>
                  </a:cubicBezTo>
                  <a:lnTo>
                    <a:pt x="10688828" y="0"/>
                  </a:lnTo>
                  <a:cubicBezTo>
                    <a:pt x="10878312" y="0"/>
                    <a:pt x="11031982" y="153670"/>
                    <a:pt x="11031982" y="343154"/>
                  </a:cubicBezTo>
                  <a:lnTo>
                    <a:pt x="11031982" y="4459986"/>
                  </a:lnTo>
                  <a:cubicBezTo>
                    <a:pt x="11031982" y="4649470"/>
                    <a:pt x="10878312" y="4803140"/>
                    <a:pt x="10688828" y="4803140"/>
                  </a:cubicBezTo>
                  <a:lnTo>
                    <a:pt x="343154" y="4803140"/>
                  </a:lnTo>
                  <a:cubicBezTo>
                    <a:pt x="153670" y="4803140"/>
                    <a:pt x="0" y="4649597"/>
                    <a:pt x="0" y="4459986"/>
                  </a:cubicBezTo>
                  <a:close/>
                </a:path>
              </a:pathLst>
            </a:custGeom>
            <a:solidFill>
              <a:srgbClr val="0B2345"/>
            </a:solidFill>
          </p:spPr>
        </p:sp>
      </p:grpSp>
      <p:grpSp>
        <p:nvGrpSpPr>
          <p:cNvPr name="Group 24" id="24"/>
          <p:cNvGrpSpPr/>
          <p:nvPr/>
        </p:nvGrpSpPr>
        <p:grpSpPr>
          <a:xfrm rot="0">
            <a:off x="9646596" y="6311370"/>
            <a:ext cx="714918" cy="714937"/>
            <a:chOff x="0" y="0"/>
            <a:chExt cx="953224" cy="953249"/>
          </a:xfrm>
        </p:grpSpPr>
        <p:sp>
          <p:nvSpPr>
            <p:cNvPr name="Freeform 25" id="25" descr="preencoded.png"/>
            <p:cNvSpPr/>
            <p:nvPr/>
          </p:nvSpPr>
          <p:spPr>
            <a:xfrm flipH="false" flipV="false" rot="0">
              <a:off x="0" y="0"/>
              <a:ext cx="953262" cy="953262"/>
            </a:xfrm>
            <a:custGeom>
              <a:avLst/>
              <a:gdLst/>
              <a:ahLst/>
              <a:cxnLst/>
              <a:rect r="r" b="b" t="t" l="l"/>
              <a:pathLst>
                <a:path h="953262" w="953262">
                  <a:moveTo>
                    <a:pt x="0" y="0"/>
                  </a:moveTo>
                  <a:lnTo>
                    <a:pt x="953262" y="0"/>
                  </a:lnTo>
                  <a:lnTo>
                    <a:pt x="953262" y="953262"/>
                  </a:lnTo>
                  <a:lnTo>
                    <a:pt x="0" y="953262"/>
                  </a:lnTo>
                  <a:lnTo>
                    <a:pt x="0" y="0"/>
                  </a:lnTo>
                  <a:close/>
                </a:path>
              </a:pathLst>
            </a:custGeom>
            <a:blipFill>
              <a:blip r:embed="rId5"/>
              <a:stretch>
                <a:fillRect l="-1" t="0" r="2" b="1"/>
              </a:stretch>
            </a:blipFill>
          </p:spPr>
        </p:sp>
      </p:grpSp>
      <p:sp>
        <p:nvSpPr>
          <p:cNvPr name="TextBox 26" id="26"/>
          <p:cNvSpPr txBox="true"/>
          <p:nvPr/>
        </p:nvSpPr>
        <p:spPr>
          <a:xfrm rot="0">
            <a:off x="9646596" y="7207434"/>
            <a:ext cx="7511377" cy="414357"/>
          </a:xfrm>
          <a:prstGeom prst="rect">
            <a:avLst/>
          </a:prstGeom>
        </p:spPr>
        <p:txBody>
          <a:bodyPr anchor="t" rtlCol="false" tIns="0" lIns="0" bIns="0" rIns="0">
            <a:spAutoFit/>
          </a:bodyPr>
          <a:lstStyle/>
          <a:p>
            <a:pPr algn="l">
              <a:lnSpc>
                <a:spcPts val="3177"/>
              </a:lnSpc>
            </a:pPr>
            <a:r>
              <a:rPr lang="en-US" sz="2702">
                <a:solidFill>
                  <a:srgbClr val="FFFFFF"/>
                </a:solidFill>
                <a:latin typeface="Arimo"/>
                <a:ea typeface="Arimo"/>
                <a:cs typeface="Arimo"/>
                <a:sym typeface="Arimo"/>
              </a:rPr>
              <a:t>Custom Resource Ingestion</a:t>
            </a:r>
          </a:p>
        </p:txBody>
      </p:sp>
      <p:sp>
        <p:nvSpPr>
          <p:cNvPr name="TextBox 27" id="27"/>
          <p:cNvSpPr txBox="true"/>
          <p:nvPr/>
        </p:nvSpPr>
        <p:spPr>
          <a:xfrm rot="0">
            <a:off x="9646596" y="7779115"/>
            <a:ext cx="7511377" cy="857879"/>
          </a:xfrm>
          <a:prstGeom prst="rect">
            <a:avLst/>
          </a:prstGeom>
        </p:spPr>
        <p:txBody>
          <a:bodyPr anchor="t" rtlCol="false" tIns="0" lIns="0" bIns="0" rIns="0">
            <a:spAutoFit/>
          </a:bodyPr>
          <a:lstStyle/>
          <a:p>
            <a:pPr algn="l">
              <a:lnSpc>
                <a:spcPts val="3161"/>
              </a:lnSpc>
            </a:pPr>
            <a:r>
              <a:rPr lang="en-US" sz="2251">
                <a:solidFill>
                  <a:srgbClr val="FFFFFF"/>
                </a:solidFill>
                <a:latin typeface="Arimo"/>
                <a:ea typeface="Arimo"/>
                <a:cs typeface="Arimo"/>
                <a:sym typeface="Arimo"/>
              </a:rPr>
              <a:t>Upload personal PDFs, video links, and web links to auto-generate notes, flashcards, and practice questions.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sp>
        <p:nvSpPr>
          <p:cNvPr name="TextBox 4" id="4"/>
          <p:cNvSpPr txBox="true"/>
          <p:nvPr/>
        </p:nvSpPr>
        <p:spPr>
          <a:xfrm rot="0">
            <a:off x="762581" y="743550"/>
            <a:ext cx="17539268" cy="282083"/>
          </a:xfrm>
          <a:prstGeom prst="rect">
            <a:avLst/>
          </a:prstGeom>
        </p:spPr>
        <p:txBody>
          <a:bodyPr anchor="t" rtlCol="false" tIns="0" lIns="0" bIns="0" rIns="0">
            <a:spAutoFit/>
          </a:bodyPr>
          <a:lstStyle/>
          <a:p>
            <a:pPr algn="l">
              <a:lnSpc>
                <a:spcPts val="2071"/>
              </a:lnSpc>
            </a:pPr>
            <a:r>
              <a:rPr lang="en-US" sz="1726" spc="69">
                <a:solidFill>
                  <a:srgbClr val="000000"/>
                </a:solidFill>
                <a:latin typeface="Arimo"/>
                <a:ea typeface="Arimo"/>
                <a:cs typeface="Arimo"/>
                <a:sym typeface="Arimo"/>
              </a:rPr>
              <a:t>FUTURE VISION · PROPOSED CAPABILITIES</a:t>
            </a:r>
          </a:p>
        </p:txBody>
      </p:sp>
      <p:sp>
        <p:nvSpPr>
          <p:cNvPr name="TextBox 5" id="5"/>
          <p:cNvSpPr txBox="true"/>
          <p:nvPr/>
        </p:nvSpPr>
        <p:spPr>
          <a:xfrm rot="0">
            <a:off x="762581" y="1182891"/>
            <a:ext cx="16776687" cy="620678"/>
          </a:xfrm>
          <a:prstGeom prst="rect">
            <a:avLst/>
          </a:prstGeom>
        </p:spPr>
        <p:txBody>
          <a:bodyPr anchor="t" rtlCol="false" tIns="0" lIns="0" bIns="0" rIns="0">
            <a:spAutoFit/>
          </a:bodyPr>
          <a:lstStyle/>
          <a:p>
            <a:pPr algn="l">
              <a:lnSpc>
                <a:spcPts val="5188"/>
              </a:lnSpc>
            </a:pPr>
            <a:r>
              <a:rPr lang="en-US" sz="4803" spc="-96">
                <a:solidFill>
                  <a:srgbClr val="000000"/>
                </a:solidFill>
                <a:latin typeface="Arimo"/>
                <a:ea typeface="Arimo"/>
                <a:cs typeface="Arimo"/>
                <a:sym typeface="Arimo"/>
              </a:rPr>
              <a:t>Future Vision: Hardware &amp; Gamification</a:t>
            </a:r>
          </a:p>
        </p:txBody>
      </p:sp>
      <p:grpSp>
        <p:nvGrpSpPr>
          <p:cNvPr name="Group 6" id="6"/>
          <p:cNvGrpSpPr/>
          <p:nvPr/>
        </p:nvGrpSpPr>
        <p:grpSpPr>
          <a:xfrm rot="0">
            <a:off x="762581" y="2099072"/>
            <a:ext cx="5439613" cy="7433377"/>
            <a:chOff x="0" y="0"/>
            <a:chExt cx="7252818" cy="9911169"/>
          </a:xfrm>
        </p:grpSpPr>
        <p:sp>
          <p:nvSpPr>
            <p:cNvPr name="Freeform 7" id="7"/>
            <p:cNvSpPr/>
            <p:nvPr/>
          </p:nvSpPr>
          <p:spPr>
            <a:xfrm flipH="false" flipV="false" rot="0">
              <a:off x="0" y="0"/>
              <a:ext cx="7252843" cy="9911207"/>
            </a:xfrm>
            <a:custGeom>
              <a:avLst/>
              <a:gdLst/>
              <a:ahLst/>
              <a:cxnLst/>
              <a:rect r="r" b="b" t="t" l="l"/>
              <a:pathLst>
                <a:path h="9911207" w="7252843">
                  <a:moveTo>
                    <a:pt x="0" y="343154"/>
                  </a:moveTo>
                  <a:cubicBezTo>
                    <a:pt x="0" y="153670"/>
                    <a:pt x="153670" y="0"/>
                    <a:pt x="343154" y="0"/>
                  </a:cubicBezTo>
                  <a:lnTo>
                    <a:pt x="6909689" y="0"/>
                  </a:lnTo>
                  <a:cubicBezTo>
                    <a:pt x="7099173" y="0"/>
                    <a:pt x="7252843" y="153670"/>
                    <a:pt x="7252843" y="343154"/>
                  </a:cubicBezTo>
                  <a:lnTo>
                    <a:pt x="7252843" y="9568053"/>
                  </a:lnTo>
                  <a:cubicBezTo>
                    <a:pt x="7252843" y="9757537"/>
                    <a:pt x="7099173" y="9911207"/>
                    <a:pt x="6909689" y="9911207"/>
                  </a:cubicBezTo>
                  <a:lnTo>
                    <a:pt x="343154" y="9911207"/>
                  </a:lnTo>
                  <a:cubicBezTo>
                    <a:pt x="153670" y="9911207"/>
                    <a:pt x="0" y="9757537"/>
                    <a:pt x="0" y="9568053"/>
                  </a:cubicBezTo>
                  <a:close/>
                </a:path>
              </a:pathLst>
            </a:custGeom>
            <a:solidFill>
              <a:srgbClr val="BDE7FF"/>
            </a:solidFill>
          </p:spPr>
        </p:sp>
      </p:grpSp>
      <p:grpSp>
        <p:nvGrpSpPr>
          <p:cNvPr name="Group 8" id="8"/>
          <p:cNvGrpSpPr/>
          <p:nvPr/>
        </p:nvGrpSpPr>
        <p:grpSpPr>
          <a:xfrm rot="0">
            <a:off x="3124924" y="2556634"/>
            <a:ext cx="714918" cy="714937"/>
            <a:chOff x="0" y="0"/>
            <a:chExt cx="953224" cy="953249"/>
          </a:xfrm>
        </p:grpSpPr>
        <p:sp>
          <p:nvSpPr>
            <p:cNvPr name="Freeform 9" id="9" descr="preencoded.png"/>
            <p:cNvSpPr/>
            <p:nvPr/>
          </p:nvSpPr>
          <p:spPr>
            <a:xfrm flipH="false" flipV="false" rot="0">
              <a:off x="0" y="0"/>
              <a:ext cx="953262" cy="953262"/>
            </a:xfrm>
            <a:custGeom>
              <a:avLst/>
              <a:gdLst/>
              <a:ahLst/>
              <a:cxnLst/>
              <a:rect r="r" b="b" t="t" l="l"/>
              <a:pathLst>
                <a:path h="953262" w="953262">
                  <a:moveTo>
                    <a:pt x="0" y="0"/>
                  </a:moveTo>
                  <a:lnTo>
                    <a:pt x="953262" y="0"/>
                  </a:lnTo>
                  <a:lnTo>
                    <a:pt x="953262" y="953262"/>
                  </a:lnTo>
                  <a:lnTo>
                    <a:pt x="0" y="953262"/>
                  </a:lnTo>
                  <a:lnTo>
                    <a:pt x="0" y="0"/>
                  </a:lnTo>
                  <a:close/>
                </a:path>
              </a:pathLst>
            </a:custGeom>
            <a:blipFill>
              <a:blip r:embed="rId3"/>
              <a:stretch>
                <a:fillRect l="-1" t="0" r="2" b="1"/>
              </a:stretch>
            </a:blipFill>
          </p:spPr>
        </p:sp>
      </p:grpSp>
      <p:sp>
        <p:nvSpPr>
          <p:cNvPr name="TextBox 10" id="10"/>
          <p:cNvSpPr txBox="true"/>
          <p:nvPr/>
        </p:nvSpPr>
        <p:spPr>
          <a:xfrm rot="0">
            <a:off x="1220124" y="3452689"/>
            <a:ext cx="4524527" cy="414357"/>
          </a:xfrm>
          <a:prstGeom prst="rect">
            <a:avLst/>
          </a:prstGeom>
        </p:spPr>
        <p:txBody>
          <a:bodyPr anchor="t" rtlCol="false" tIns="0" lIns="0" bIns="0" rIns="0">
            <a:spAutoFit/>
          </a:bodyPr>
          <a:lstStyle/>
          <a:p>
            <a:pPr algn="l">
              <a:lnSpc>
                <a:spcPts val="3177"/>
              </a:lnSpc>
            </a:pPr>
            <a:r>
              <a:rPr lang="en-US" sz="2702">
                <a:solidFill>
                  <a:srgbClr val="000000"/>
                </a:solidFill>
                <a:latin typeface="Arimo"/>
                <a:ea typeface="Arimo"/>
                <a:cs typeface="Arimo"/>
                <a:sym typeface="Arimo"/>
              </a:rPr>
              <a:t>Smart Recording</a:t>
            </a:r>
          </a:p>
        </p:txBody>
      </p:sp>
      <p:sp>
        <p:nvSpPr>
          <p:cNvPr name="TextBox 11" id="11"/>
          <p:cNvSpPr txBox="true"/>
          <p:nvPr/>
        </p:nvSpPr>
        <p:spPr>
          <a:xfrm rot="0">
            <a:off x="1220124" y="6927752"/>
            <a:ext cx="4524527" cy="1258243"/>
          </a:xfrm>
          <a:prstGeom prst="rect">
            <a:avLst/>
          </a:prstGeom>
        </p:spPr>
        <p:txBody>
          <a:bodyPr anchor="t" rtlCol="false" tIns="0" lIns="0" bIns="0" rIns="0">
            <a:spAutoFit/>
          </a:bodyPr>
          <a:lstStyle/>
          <a:p>
            <a:pPr algn="l">
              <a:lnSpc>
                <a:spcPts val="3161"/>
              </a:lnSpc>
            </a:pPr>
            <a:r>
              <a:rPr lang="en-US" sz="2251">
                <a:solidFill>
                  <a:srgbClr val="000000"/>
                </a:solidFill>
                <a:latin typeface="Arimo"/>
                <a:ea typeface="Arimo"/>
                <a:cs typeface="Arimo"/>
                <a:sym typeface="Arimo"/>
              </a:rPr>
              <a:t>Small IoT devices in classrooms record live lectures for absent students.</a:t>
            </a:r>
          </a:p>
        </p:txBody>
      </p:sp>
      <p:grpSp>
        <p:nvGrpSpPr>
          <p:cNvPr name="Group 12" id="12"/>
          <p:cNvGrpSpPr/>
          <p:nvPr/>
        </p:nvGrpSpPr>
        <p:grpSpPr>
          <a:xfrm rot="0">
            <a:off x="1220124" y="8445751"/>
            <a:ext cx="1492987" cy="47511"/>
            <a:chOff x="0" y="0"/>
            <a:chExt cx="1990649" cy="63348"/>
          </a:xfrm>
        </p:grpSpPr>
        <p:sp>
          <p:nvSpPr>
            <p:cNvPr name="Freeform 13" id="13"/>
            <p:cNvSpPr/>
            <p:nvPr/>
          </p:nvSpPr>
          <p:spPr>
            <a:xfrm flipH="false" flipV="false" rot="0">
              <a:off x="0" y="0"/>
              <a:ext cx="1990598" cy="63247"/>
            </a:xfrm>
            <a:custGeom>
              <a:avLst/>
              <a:gdLst/>
              <a:ahLst/>
              <a:cxnLst/>
              <a:rect r="r" b="b" t="t" l="l"/>
              <a:pathLst>
                <a:path h="63247" w="1990598">
                  <a:moveTo>
                    <a:pt x="0" y="31623"/>
                  </a:moveTo>
                  <a:cubicBezTo>
                    <a:pt x="0" y="14224"/>
                    <a:pt x="14224" y="0"/>
                    <a:pt x="31623" y="0"/>
                  </a:cubicBezTo>
                  <a:lnTo>
                    <a:pt x="1958975" y="0"/>
                  </a:lnTo>
                  <a:cubicBezTo>
                    <a:pt x="1976501" y="0"/>
                    <a:pt x="1990598" y="14224"/>
                    <a:pt x="1990598" y="31623"/>
                  </a:cubicBezTo>
                  <a:cubicBezTo>
                    <a:pt x="1990598" y="49149"/>
                    <a:pt x="1976374" y="63246"/>
                    <a:pt x="1958975" y="63246"/>
                  </a:cubicBezTo>
                  <a:lnTo>
                    <a:pt x="31623" y="63246"/>
                  </a:lnTo>
                  <a:cubicBezTo>
                    <a:pt x="14224" y="63373"/>
                    <a:pt x="0" y="49149"/>
                    <a:pt x="0" y="31623"/>
                  </a:cubicBezTo>
                  <a:close/>
                </a:path>
              </a:pathLst>
            </a:custGeom>
            <a:solidFill>
              <a:srgbClr val="0B2345"/>
            </a:solidFill>
          </p:spPr>
        </p:sp>
      </p:grpSp>
      <p:sp>
        <p:nvSpPr>
          <p:cNvPr name="TextBox 14" id="14"/>
          <p:cNvSpPr txBox="true"/>
          <p:nvPr/>
        </p:nvSpPr>
        <p:spPr>
          <a:xfrm rot="0">
            <a:off x="1220124" y="8696020"/>
            <a:ext cx="4982070" cy="378866"/>
          </a:xfrm>
          <a:prstGeom prst="rect">
            <a:avLst/>
          </a:prstGeom>
        </p:spPr>
        <p:txBody>
          <a:bodyPr anchor="t" rtlCol="false" tIns="0" lIns="0" bIns="0" rIns="0">
            <a:spAutoFit/>
          </a:bodyPr>
          <a:lstStyle/>
          <a:p>
            <a:pPr algn="l">
              <a:lnSpc>
                <a:spcPts val="2521"/>
              </a:lnSpc>
            </a:pPr>
            <a:r>
              <a:rPr lang="en-US" sz="1876">
                <a:solidFill>
                  <a:srgbClr val="000000"/>
                </a:solidFill>
                <a:latin typeface="Arimo"/>
                <a:ea typeface="Arimo"/>
                <a:cs typeface="Arimo"/>
                <a:sym typeface="Arimo"/>
              </a:rPr>
              <a:t>Keep lectures accessible.</a:t>
            </a:r>
          </a:p>
        </p:txBody>
      </p:sp>
      <p:grpSp>
        <p:nvGrpSpPr>
          <p:cNvPr name="Group 15" id="15"/>
          <p:cNvGrpSpPr/>
          <p:nvPr/>
        </p:nvGrpSpPr>
        <p:grpSpPr>
          <a:xfrm rot="0">
            <a:off x="6430966" y="2099072"/>
            <a:ext cx="5439766" cy="7433377"/>
            <a:chOff x="0" y="0"/>
            <a:chExt cx="7253021" cy="9911169"/>
          </a:xfrm>
        </p:grpSpPr>
        <p:sp>
          <p:nvSpPr>
            <p:cNvPr name="Freeform 16" id="16"/>
            <p:cNvSpPr/>
            <p:nvPr/>
          </p:nvSpPr>
          <p:spPr>
            <a:xfrm flipH="false" flipV="false" rot="0">
              <a:off x="0" y="0"/>
              <a:ext cx="7252970" cy="9911207"/>
            </a:xfrm>
            <a:custGeom>
              <a:avLst/>
              <a:gdLst/>
              <a:ahLst/>
              <a:cxnLst/>
              <a:rect r="r" b="b" t="t" l="l"/>
              <a:pathLst>
                <a:path h="9911207" w="7252970">
                  <a:moveTo>
                    <a:pt x="0" y="343154"/>
                  </a:moveTo>
                  <a:cubicBezTo>
                    <a:pt x="0" y="153670"/>
                    <a:pt x="153670" y="0"/>
                    <a:pt x="343154" y="0"/>
                  </a:cubicBezTo>
                  <a:lnTo>
                    <a:pt x="6909816" y="0"/>
                  </a:lnTo>
                  <a:cubicBezTo>
                    <a:pt x="7099300" y="0"/>
                    <a:pt x="7252970" y="153670"/>
                    <a:pt x="7252970" y="343154"/>
                  </a:cubicBezTo>
                  <a:lnTo>
                    <a:pt x="7252970" y="9568053"/>
                  </a:lnTo>
                  <a:cubicBezTo>
                    <a:pt x="7252970" y="9757537"/>
                    <a:pt x="7099300" y="9911207"/>
                    <a:pt x="6909816" y="9911207"/>
                  </a:cubicBezTo>
                  <a:lnTo>
                    <a:pt x="343154" y="9911207"/>
                  </a:lnTo>
                  <a:cubicBezTo>
                    <a:pt x="153670" y="9911207"/>
                    <a:pt x="0" y="9757537"/>
                    <a:pt x="0" y="9568053"/>
                  </a:cubicBezTo>
                  <a:close/>
                </a:path>
              </a:pathLst>
            </a:custGeom>
            <a:solidFill>
              <a:srgbClr val="BDE7FF"/>
            </a:solidFill>
          </p:spPr>
        </p:sp>
      </p:grpSp>
      <p:grpSp>
        <p:nvGrpSpPr>
          <p:cNvPr name="Group 17" id="17"/>
          <p:cNvGrpSpPr/>
          <p:nvPr/>
        </p:nvGrpSpPr>
        <p:grpSpPr>
          <a:xfrm rot="0">
            <a:off x="8793309" y="2556634"/>
            <a:ext cx="714918" cy="714937"/>
            <a:chOff x="0" y="0"/>
            <a:chExt cx="953224" cy="953249"/>
          </a:xfrm>
        </p:grpSpPr>
        <p:sp>
          <p:nvSpPr>
            <p:cNvPr name="Freeform 18" id="18" descr="preencoded.png"/>
            <p:cNvSpPr/>
            <p:nvPr/>
          </p:nvSpPr>
          <p:spPr>
            <a:xfrm flipH="false" flipV="false" rot="0">
              <a:off x="0" y="0"/>
              <a:ext cx="953262" cy="953262"/>
            </a:xfrm>
            <a:custGeom>
              <a:avLst/>
              <a:gdLst/>
              <a:ahLst/>
              <a:cxnLst/>
              <a:rect r="r" b="b" t="t" l="l"/>
              <a:pathLst>
                <a:path h="953262" w="953262">
                  <a:moveTo>
                    <a:pt x="0" y="0"/>
                  </a:moveTo>
                  <a:lnTo>
                    <a:pt x="953262" y="0"/>
                  </a:lnTo>
                  <a:lnTo>
                    <a:pt x="953262" y="953262"/>
                  </a:lnTo>
                  <a:lnTo>
                    <a:pt x="0" y="953262"/>
                  </a:lnTo>
                  <a:lnTo>
                    <a:pt x="0" y="0"/>
                  </a:lnTo>
                  <a:close/>
                </a:path>
              </a:pathLst>
            </a:custGeom>
            <a:blipFill>
              <a:blip r:embed="rId4"/>
              <a:stretch>
                <a:fillRect l="-1" t="0" r="2" b="1"/>
              </a:stretch>
            </a:blipFill>
          </p:spPr>
        </p:sp>
      </p:grpSp>
      <p:sp>
        <p:nvSpPr>
          <p:cNvPr name="TextBox 19" id="19"/>
          <p:cNvSpPr txBox="true"/>
          <p:nvPr/>
        </p:nvSpPr>
        <p:spPr>
          <a:xfrm rot="0">
            <a:off x="6888509" y="3452689"/>
            <a:ext cx="4524670" cy="414357"/>
          </a:xfrm>
          <a:prstGeom prst="rect">
            <a:avLst/>
          </a:prstGeom>
        </p:spPr>
        <p:txBody>
          <a:bodyPr anchor="t" rtlCol="false" tIns="0" lIns="0" bIns="0" rIns="0">
            <a:spAutoFit/>
          </a:bodyPr>
          <a:lstStyle/>
          <a:p>
            <a:pPr algn="l">
              <a:lnSpc>
                <a:spcPts val="3177"/>
              </a:lnSpc>
            </a:pPr>
            <a:r>
              <a:rPr lang="en-US" sz="2702">
                <a:solidFill>
                  <a:srgbClr val="000000"/>
                </a:solidFill>
                <a:latin typeface="Arimo"/>
                <a:ea typeface="Arimo"/>
                <a:cs typeface="Arimo"/>
                <a:sym typeface="Arimo"/>
              </a:rPr>
              <a:t>Auto Transcripts</a:t>
            </a:r>
          </a:p>
        </p:txBody>
      </p:sp>
      <p:sp>
        <p:nvSpPr>
          <p:cNvPr name="TextBox 20" id="20"/>
          <p:cNvSpPr txBox="true"/>
          <p:nvPr/>
        </p:nvSpPr>
        <p:spPr>
          <a:xfrm rot="0">
            <a:off x="6888509" y="7328116"/>
            <a:ext cx="4524670" cy="857879"/>
          </a:xfrm>
          <a:prstGeom prst="rect">
            <a:avLst/>
          </a:prstGeom>
        </p:spPr>
        <p:txBody>
          <a:bodyPr anchor="t" rtlCol="false" tIns="0" lIns="0" bIns="0" rIns="0">
            <a:spAutoFit/>
          </a:bodyPr>
          <a:lstStyle/>
          <a:p>
            <a:pPr algn="l">
              <a:lnSpc>
                <a:spcPts val="3161"/>
              </a:lnSpc>
            </a:pPr>
            <a:r>
              <a:rPr lang="en-US" sz="2251">
                <a:solidFill>
                  <a:srgbClr val="000000"/>
                </a:solidFill>
                <a:latin typeface="Arimo"/>
                <a:ea typeface="Arimo"/>
                <a:cs typeface="Arimo"/>
                <a:sym typeface="Arimo"/>
              </a:rPr>
              <a:t>AI transcriptions and summaries from classroom recordings.</a:t>
            </a:r>
          </a:p>
        </p:txBody>
      </p:sp>
      <p:grpSp>
        <p:nvGrpSpPr>
          <p:cNvPr name="Group 21" id="21"/>
          <p:cNvGrpSpPr/>
          <p:nvPr/>
        </p:nvGrpSpPr>
        <p:grpSpPr>
          <a:xfrm rot="0">
            <a:off x="6888509" y="8445751"/>
            <a:ext cx="1492987" cy="47511"/>
            <a:chOff x="0" y="0"/>
            <a:chExt cx="1990649" cy="63348"/>
          </a:xfrm>
        </p:grpSpPr>
        <p:sp>
          <p:nvSpPr>
            <p:cNvPr name="Freeform 22" id="22"/>
            <p:cNvSpPr/>
            <p:nvPr/>
          </p:nvSpPr>
          <p:spPr>
            <a:xfrm flipH="false" flipV="false" rot="0">
              <a:off x="0" y="0"/>
              <a:ext cx="1990598" cy="63247"/>
            </a:xfrm>
            <a:custGeom>
              <a:avLst/>
              <a:gdLst/>
              <a:ahLst/>
              <a:cxnLst/>
              <a:rect r="r" b="b" t="t" l="l"/>
              <a:pathLst>
                <a:path h="63247" w="1990598">
                  <a:moveTo>
                    <a:pt x="0" y="31623"/>
                  </a:moveTo>
                  <a:cubicBezTo>
                    <a:pt x="0" y="14224"/>
                    <a:pt x="14224" y="0"/>
                    <a:pt x="31623" y="0"/>
                  </a:cubicBezTo>
                  <a:lnTo>
                    <a:pt x="1958975" y="0"/>
                  </a:lnTo>
                  <a:cubicBezTo>
                    <a:pt x="1976501" y="0"/>
                    <a:pt x="1990598" y="14224"/>
                    <a:pt x="1990598" y="31623"/>
                  </a:cubicBezTo>
                  <a:cubicBezTo>
                    <a:pt x="1990598" y="49149"/>
                    <a:pt x="1976374" y="63246"/>
                    <a:pt x="1958975" y="63246"/>
                  </a:cubicBezTo>
                  <a:lnTo>
                    <a:pt x="31623" y="63246"/>
                  </a:lnTo>
                  <a:cubicBezTo>
                    <a:pt x="14224" y="63373"/>
                    <a:pt x="0" y="49149"/>
                    <a:pt x="0" y="31623"/>
                  </a:cubicBezTo>
                  <a:close/>
                </a:path>
              </a:pathLst>
            </a:custGeom>
            <a:solidFill>
              <a:srgbClr val="0B2345"/>
            </a:solidFill>
          </p:spPr>
        </p:sp>
      </p:grpSp>
      <p:sp>
        <p:nvSpPr>
          <p:cNvPr name="TextBox 23" id="23"/>
          <p:cNvSpPr txBox="true"/>
          <p:nvPr/>
        </p:nvSpPr>
        <p:spPr>
          <a:xfrm rot="0">
            <a:off x="6888509" y="8696020"/>
            <a:ext cx="4982213" cy="378866"/>
          </a:xfrm>
          <a:prstGeom prst="rect">
            <a:avLst/>
          </a:prstGeom>
        </p:spPr>
        <p:txBody>
          <a:bodyPr anchor="t" rtlCol="false" tIns="0" lIns="0" bIns="0" rIns="0">
            <a:spAutoFit/>
          </a:bodyPr>
          <a:lstStyle/>
          <a:p>
            <a:pPr algn="l">
              <a:lnSpc>
                <a:spcPts val="2521"/>
              </a:lnSpc>
            </a:pPr>
            <a:r>
              <a:rPr lang="en-US" sz="1876">
                <a:solidFill>
                  <a:srgbClr val="000000"/>
                </a:solidFill>
                <a:latin typeface="Arimo"/>
                <a:ea typeface="Arimo"/>
                <a:cs typeface="Arimo"/>
                <a:sym typeface="Arimo"/>
              </a:rPr>
              <a:t>Make recordings revisable.</a:t>
            </a:r>
          </a:p>
        </p:txBody>
      </p:sp>
      <p:grpSp>
        <p:nvGrpSpPr>
          <p:cNvPr name="Group 24" id="24"/>
          <p:cNvGrpSpPr/>
          <p:nvPr/>
        </p:nvGrpSpPr>
        <p:grpSpPr>
          <a:xfrm rot="0">
            <a:off x="12099503" y="2099072"/>
            <a:ext cx="5439766" cy="7433377"/>
            <a:chOff x="0" y="0"/>
            <a:chExt cx="7253021" cy="9911169"/>
          </a:xfrm>
        </p:grpSpPr>
        <p:sp>
          <p:nvSpPr>
            <p:cNvPr name="Freeform 25" id="25"/>
            <p:cNvSpPr/>
            <p:nvPr/>
          </p:nvSpPr>
          <p:spPr>
            <a:xfrm flipH="false" flipV="false" rot="0">
              <a:off x="0" y="0"/>
              <a:ext cx="7252970" cy="9911207"/>
            </a:xfrm>
            <a:custGeom>
              <a:avLst/>
              <a:gdLst/>
              <a:ahLst/>
              <a:cxnLst/>
              <a:rect r="r" b="b" t="t" l="l"/>
              <a:pathLst>
                <a:path h="9911207" w="7252970">
                  <a:moveTo>
                    <a:pt x="0" y="343154"/>
                  </a:moveTo>
                  <a:cubicBezTo>
                    <a:pt x="0" y="153670"/>
                    <a:pt x="153670" y="0"/>
                    <a:pt x="343154" y="0"/>
                  </a:cubicBezTo>
                  <a:lnTo>
                    <a:pt x="6909816" y="0"/>
                  </a:lnTo>
                  <a:cubicBezTo>
                    <a:pt x="7099300" y="0"/>
                    <a:pt x="7252970" y="153670"/>
                    <a:pt x="7252970" y="343154"/>
                  </a:cubicBezTo>
                  <a:lnTo>
                    <a:pt x="7252970" y="9568053"/>
                  </a:lnTo>
                  <a:cubicBezTo>
                    <a:pt x="7252970" y="9757537"/>
                    <a:pt x="7099300" y="9911207"/>
                    <a:pt x="6909816" y="9911207"/>
                  </a:cubicBezTo>
                  <a:lnTo>
                    <a:pt x="343154" y="9911207"/>
                  </a:lnTo>
                  <a:cubicBezTo>
                    <a:pt x="153670" y="9911207"/>
                    <a:pt x="0" y="9757537"/>
                    <a:pt x="0" y="9568053"/>
                  </a:cubicBezTo>
                  <a:close/>
                </a:path>
              </a:pathLst>
            </a:custGeom>
            <a:solidFill>
              <a:srgbClr val="0B2345"/>
            </a:solidFill>
          </p:spPr>
        </p:sp>
      </p:grpSp>
      <p:grpSp>
        <p:nvGrpSpPr>
          <p:cNvPr name="Group 26" id="26"/>
          <p:cNvGrpSpPr/>
          <p:nvPr/>
        </p:nvGrpSpPr>
        <p:grpSpPr>
          <a:xfrm rot="0">
            <a:off x="14461846" y="2556634"/>
            <a:ext cx="714918" cy="714937"/>
            <a:chOff x="0" y="0"/>
            <a:chExt cx="953224" cy="953249"/>
          </a:xfrm>
        </p:grpSpPr>
        <p:sp>
          <p:nvSpPr>
            <p:cNvPr name="Freeform 27" id="27" descr="preencoded.png"/>
            <p:cNvSpPr/>
            <p:nvPr/>
          </p:nvSpPr>
          <p:spPr>
            <a:xfrm flipH="false" flipV="false" rot="0">
              <a:off x="0" y="0"/>
              <a:ext cx="953262" cy="953262"/>
            </a:xfrm>
            <a:custGeom>
              <a:avLst/>
              <a:gdLst/>
              <a:ahLst/>
              <a:cxnLst/>
              <a:rect r="r" b="b" t="t" l="l"/>
              <a:pathLst>
                <a:path h="953262" w="953262">
                  <a:moveTo>
                    <a:pt x="0" y="0"/>
                  </a:moveTo>
                  <a:lnTo>
                    <a:pt x="953262" y="0"/>
                  </a:lnTo>
                  <a:lnTo>
                    <a:pt x="953262" y="953262"/>
                  </a:lnTo>
                  <a:lnTo>
                    <a:pt x="0" y="953262"/>
                  </a:lnTo>
                  <a:lnTo>
                    <a:pt x="0" y="0"/>
                  </a:lnTo>
                  <a:close/>
                </a:path>
              </a:pathLst>
            </a:custGeom>
            <a:blipFill>
              <a:blip r:embed="rId5"/>
              <a:stretch>
                <a:fillRect l="-1" t="0" r="2" b="1"/>
              </a:stretch>
            </a:blipFill>
          </p:spPr>
        </p:sp>
      </p:grpSp>
      <p:sp>
        <p:nvSpPr>
          <p:cNvPr name="TextBox 28" id="28"/>
          <p:cNvSpPr txBox="true"/>
          <p:nvPr/>
        </p:nvSpPr>
        <p:spPr>
          <a:xfrm rot="0">
            <a:off x="12557046" y="3452689"/>
            <a:ext cx="4524670" cy="414357"/>
          </a:xfrm>
          <a:prstGeom prst="rect">
            <a:avLst/>
          </a:prstGeom>
        </p:spPr>
        <p:txBody>
          <a:bodyPr anchor="t" rtlCol="false" tIns="0" lIns="0" bIns="0" rIns="0">
            <a:spAutoFit/>
          </a:bodyPr>
          <a:lstStyle/>
          <a:p>
            <a:pPr algn="l">
              <a:lnSpc>
                <a:spcPts val="3177"/>
              </a:lnSpc>
            </a:pPr>
            <a:r>
              <a:rPr lang="en-US" sz="2702">
                <a:solidFill>
                  <a:srgbClr val="FFFFFF"/>
                </a:solidFill>
                <a:latin typeface="Arimo"/>
                <a:ea typeface="Arimo"/>
                <a:cs typeface="Arimo"/>
                <a:sym typeface="Arimo"/>
              </a:rPr>
              <a:t>Focus Leaderboard</a:t>
            </a:r>
          </a:p>
        </p:txBody>
      </p:sp>
      <p:sp>
        <p:nvSpPr>
          <p:cNvPr name="TextBox 29" id="29"/>
          <p:cNvSpPr txBox="true"/>
          <p:nvPr/>
        </p:nvSpPr>
        <p:spPr>
          <a:xfrm rot="0">
            <a:off x="12557046" y="7328116"/>
            <a:ext cx="4524670" cy="857879"/>
          </a:xfrm>
          <a:prstGeom prst="rect">
            <a:avLst/>
          </a:prstGeom>
        </p:spPr>
        <p:txBody>
          <a:bodyPr anchor="t" rtlCol="false" tIns="0" lIns="0" bIns="0" rIns="0">
            <a:spAutoFit/>
          </a:bodyPr>
          <a:lstStyle/>
          <a:p>
            <a:pPr algn="l">
              <a:lnSpc>
                <a:spcPts val="3161"/>
              </a:lnSpc>
            </a:pPr>
            <a:r>
              <a:rPr lang="en-US" sz="2251">
                <a:solidFill>
                  <a:srgbClr val="FFFFFF"/>
                </a:solidFill>
                <a:latin typeface="Arimo"/>
                <a:ea typeface="Arimo"/>
                <a:cs typeface="Arimo"/>
                <a:sym typeface="Arimo"/>
              </a:rPr>
              <a:t>An engagement dashboard showing top students by focused study hours.</a:t>
            </a:r>
          </a:p>
        </p:txBody>
      </p:sp>
      <p:grpSp>
        <p:nvGrpSpPr>
          <p:cNvPr name="Group 30" id="30"/>
          <p:cNvGrpSpPr/>
          <p:nvPr/>
        </p:nvGrpSpPr>
        <p:grpSpPr>
          <a:xfrm rot="0">
            <a:off x="12557046" y="8445751"/>
            <a:ext cx="1492987" cy="47511"/>
            <a:chOff x="0" y="0"/>
            <a:chExt cx="1990649" cy="63348"/>
          </a:xfrm>
        </p:grpSpPr>
        <p:sp>
          <p:nvSpPr>
            <p:cNvPr name="Freeform 31" id="31"/>
            <p:cNvSpPr/>
            <p:nvPr/>
          </p:nvSpPr>
          <p:spPr>
            <a:xfrm flipH="false" flipV="false" rot="0">
              <a:off x="0" y="0"/>
              <a:ext cx="1990598" cy="63247"/>
            </a:xfrm>
            <a:custGeom>
              <a:avLst/>
              <a:gdLst/>
              <a:ahLst/>
              <a:cxnLst/>
              <a:rect r="r" b="b" t="t" l="l"/>
              <a:pathLst>
                <a:path h="63247" w="1990598">
                  <a:moveTo>
                    <a:pt x="0" y="31623"/>
                  </a:moveTo>
                  <a:cubicBezTo>
                    <a:pt x="0" y="14224"/>
                    <a:pt x="14224" y="0"/>
                    <a:pt x="31623" y="0"/>
                  </a:cubicBezTo>
                  <a:lnTo>
                    <a:pt x="1958975" y="0"/>
                  </a:lnTo>
                  <a:cubicBezTo>
                    <a:pt x="1976501" y="0"/>
                    <a:pt x="1990598" y="14224"/>
                    <a:pt x="1990598" y="31623"/>
                  </a:cubicBezTo>
                  <a:cubicBezTo>
                    <a:pt x="1990598" y="49149"/>
                    <a:pt x="1976374" y="63246"/>
                    <a:pt x="1958975" y="63246"/>
                  </a:cubicBezTo>
                  <a:lnTo>
                    <a:pt x="31623" y="63246"/>
                  </a:lnTo>
                  <a:cubicBezTo>
                    <a:pt x="14224" y="63373"/>
                    <a:pt x="0" y="49149"/>
                    <a:pt x="0" y="31623"/>
                  </a:cubicBezTo>
                  <a:close/>
                </a:path>
              </a:pathLst>
            </a:custGeom>
            <a:solidFill>
              <a:srgbClr val="BDE7FF"/>
            </a:solidFill>
          </p:spPr>
        </p:sp>
      </p:grpSp>
      <p:sp>
        <p:nvSpPr>
          <p:cNvPr name="TextBox 32" id="32"/>
          <p:cNvSpPr txBox="true"/>
          <p:nvPr/>
        </p:nvSpPr>
        <p:spPr>
          <a:xfrm rot="0">
            <a:off x="12557046" y="8696020"/>
            <a:ext cx="4982213" cy="378866"/>
          </a:xfrm>
          <a:prstGeom prst="rect">
            <a:avLst/>
          </a:prstGeom>
        </p:spPr>
        <p:txBody>
          <a:bodyPr anchor="t" rtlCol="false" tIns="0" lIns="0" bIns="0" rIns="0">
            <a:spAutoFit/>
          </a:bodyPr>
          <a:lstStyle/>
          <a:p>
            <a:pPr algn="l">
              <a:lnSpc>
                <a:spcPts val="2521"/>
              </a:lnSpc>
            </a:pPr>
            <a:r>
              <a:rPr lang="en-US" sz="1876">
                <a:solidFill>
                  <a:srgbClr val="FFFFFF"/>
                </a:solidFill>
                <a:latin typeface="Arimo"/>
                <a:ea typeface="Arimo"/>
                <a:cs typeface="Arimo"/>
                <a:sym typeface="Arimo"/>
              </a:rPr>
              <a:t>Recognize focused effort.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sp>
        <p:nvSpPr>
          <p:cNvPr name="TextBox 4" id="4"/>
          <p:cNvSpPr txBox="true"/>
          <p:nvPr/>
        </p:nvSpPr>
        <p:spPr>
          <a:xfrm rot="0">
            <a:off x="762581" y="743550"/>
            <a:ext cx="17539268" cy="282083"/>
          </a:xfrm>
          <a:prstGeom prst="rect">
            <a:avLst/>
          </a:prstGeom>
        </p:spPr>
        <p:txBody>
          <a:bodyPr anchor="t" rtlCol="false" tIns="0" lIns="0" bIns="0" rIns="0">
            <a:spAutoFit/>
          </a:bodyPr>
          <a:lstStyle/>
          <a:p>
            <a:pPr algn="l">
              <a:lnSpc>
                <a:spcPts val="2071"/>
              </a:lnSpc>
            </a:pPr>
            <a:r>
              <a:rPr lang="en-US" sz="1726" spc="69">
                <a:solidFill>
                  <a:srgbClr val="000000"/>
                </a:solidFill>
                <a:latin typeface="Arimo"/>
                <a:ea typeface="Arimo"/>
                <a:cs typeface="Arimo"/>
                <a:sym typeface="Arimo"/>
              </a:rPr>
              <a:t>TEAM · PLACEHOLDERS TO COMPLETE</a:t>
            </a:r>
          </a:p>
        </p:txBody>
      </p:sp>
      <p:sp>
        <p:nvSpPr>
          <p:cNvPr name="TextBox 5" id="5"/>
          <p:cNvSpPr txBox="true"/>
          <p:nvPr/>
        </p:nvSpPr>
        <p:spPr>
          <a:xfrm rot="0">
            <a:off x="762581" y="1182891"/>
            <a:ext cx="16776687" cy="620678"/>
          </a:xfrm>
          <a:prstGeom prst="rect">
            <a:avLst/>
          </a:prstGeom>
        </p:spPr>
        <p:txBody>
          <a:bodyPr anchor="t" rtlCol="false" tIns="0" lIns="0" bIns="0" rIns="0">
            <a:spAutoFit/>
          </a:bodyPr>
          <a:lstStyle/>
          <a:p>
            <a:pPr algn="l">
              <a:lnSpc>
                <a:spcPts val="5188"/>
              </a:lnSpc>
            </a:pPr>
            <a:r>
              <a:rPr lang="en-US" sz="4803" spc="-96">
                <a:solidFill>
                  <a:srgbClr val="000000"/>
                </a:solidFill>
                <a:latin typeface="Arimo"/>
                <a:ea typeface="Arimo"/>
                <a:cs typeface="Arimo"/>
                <a:sym typeface="Arimo"/>
              </a:rPr>
              <a:t>The Minds Behind BMC Academia</a:t>
            </a:r>
          </a:p>
        </p:txBody>
      </p:sp>
      <p:grpSp>
        <p:nvGrpSpPr>
          <p:cNvPr name="Group 6" id="6"/>
          <p:cNvGrpSpPr/>
          <p:nvPr/>
        </p:nvGrpSpPr>
        <p:grpSpPr>
          <a:xfrm rot="0">
            <a:off x="762581" y="2099072"/>
            <a:ext cx="4022588" cy="6844741"/>
            <a:chOff x="0" y="0"/>
            <a:chExt cx="5363451" cy="9126322"/>
          </a:xfrm>
        </p:grpSpPr>
        <p:sp>
          <p:nvSpPr>
            <p:cNvPr name="Freeform 7" id="7"/>
            <p:cNvSpPr/>
            <p:nvPr/>
          </p:nvSpPr>
          <p:spPr>
            <a:xfrm flipH="false" flipV="false" rot="0">
              <a:off x="0" y="0"/>
              <a:ext cx="5363464" cy="9126348"/>
            </a:xfrm>
            <a:custGeom>
              <a:avLst/>
              <a:gdLst/>
              <a:ahLst/>
              <a:cxnLst/>
              <a:rect r="r" b="b" t="t" l="l"/>
              <a:pathLst>
                <a:path h="9126348" w="5363464">
                  <a:moveTo>
                    <a:pt x="0" y="343154"/>
                  </a:moveTo>
                  <a:cubicBezTo>
                    <a:pt x="0" y="153670"/>
                    <a:pt x="153670" y="0"/>
                    <a:pt x="343154" y="0"/>
                  </a:cubicBezTo>
                  <a:lnTo>
                    <a:pt x="5020310" y="0"/>
                  </a:lnTo>
                  <a:cubicBezTo>
                    <a:pt x="5209794" y="0"/>
                    <a:pt x="5363464" y="153670"/>
                    <a:pt x="5363464" y="343154"/>
                  </a:cubicBezTo>
                  <a:lnTo>
                    <a:pt x="5363464" y="8783193"/>
                  </a:lnTo>
                  <a:cubicBezTo>
                    <a:pt x="5363464" y="8972677"/>
                    <a:pt x="5209794" y="9126348"/>
                    <a:pt x="5020310" y="9126348"/>
                  </a:cubicBezTo>
                  <a:lnTo>
                    <a:pt x="343154" y="9126348"/>
                  </a:lnTo>
                  <a:cubicBezTo>
                    <a:pt x="153670" y="9126347"/>
                    <a:pt x="0" y="8972677"/>
                    <a:pt x="0" y="8783193"/>
                  </a:cubicBezTo>
                  <a:close/>
                </a:path>
              </a:pathLst>
            </a:custGeom>
            <a:solidFill>
              <a:srgbClr val="BDE7FF"/>
            </a:solidFill>
          </p:spPr>
        </p:sp>
      </p:grpSp>
      <p:grpSp>
        <p:nvGrpSpPr>
          <p:cNvPr name="Group 8" id="8"/>
          <p:cNvGrpSpPr/>
          <p:nvPr/>
        </p:nvGrpSpPr>
        <p:grpSpPr>
          <a:xfrm rot="0">
            <a:off x="762581" y="2099072"/>
            <a:ext cx="4022588" cy="4106847"/>
            <a:chOff x="0" y="0"/>
            <a:chExt cx="5363451" cy="5475796"/>
          </a:xfrm>
        </p:grpSpPr>
        <p:sp>
          <p:nvSpPr>
            <p:cNvPr name="Freeform 9" id="9" descr="preencoded.png"/>
            <p:cNvSpPr/>
            <p:nvPr/>
          </p:nvSpPr>
          <p:spPr>
            <a:xfrm flipH="false" flipV="false" rot="0">
              <a:off x="0" y="0"/>
              <a:ext cx="5363464" cy="5475859"/>
            </a:xfrm>
            <a:custGeom>
              <a:avLst/>
              <a:gdLst/>
              <a:ahLst/>
              <a:cxnLst/>
              <a:rect r="r" b="b" t="t" l="l"/>
              <a:pathLst>
                <a:path h="5475859" w="5363464">
                  <a:moveTo>
                    <a:pt x="0" y="0"/>
                  </a:moveTo>
                  <a:lnTo>
                    <a:pt x="5363464" y="0"/>
                  </a:lnTo>
                  <a:lnTo>
                    <a:pt x="5363464" y="5475859"/>
                  </a:lnTo>
                  <a:lnTo>
                    <a:pt x="0" y="5475859"/>
                  </a:lnTo>
                  <a:lnTo>
                    <a:pt x="0" y="0"/>
                  </a:lnTo>
                  <a:close/>
                </a:path>
              </a:pathLst>
            </a:custGeom>
            <a:blipFill>
              <a:blip r:embed="rId3"/>
              <a:stretch>
                <a:fillRect l="0" t="-16" r="0" b="-15"/>
              </a:stretch>
            </a:blipFill>
          </p:spPr>
        </p:sp>
      </p:grpSp>
      <p:sp>
        <p:nvSpPr>
          <p:cNvPr name="TextBox 10" id="10"/>
          <p:cNvSpPr txBox="true"/>
          <p:nvPr/>
        </p:nvSpPr>
        <p:spPr>
          <a:xfrm rot="0">
            <a:off x="1029481" y="6463303"/>
            <a:ext cx="3488788" cy="414357"/>
          </a:xfrm>
          <a:prstGeom prst="rect">
            <a:avLst/>
          </a:prstGeom>
        </p:spPr>
        <p:txBody>
          <a:bodyPr anchor="t" rtlCol="false" tIns="0" lIns="0" bIns="0" rIns="0">
            <a:spAutoFit/>
          </a:bodyPr>
          <a:lstStyle/>
          <a:p>
            <a:pPr algn="l">
              <a:lnSpc>
                <a:spcPts val="3177"/>
              </a:lnSpc>
            </a:pPr>
            <a:r>
              <a:rPr lang="en-US" sz="2702">
                <a:solidFill>
                  <a:srgbClr val="000000"/>
                </a:solidFill>
                <a:latin typeface="Arimo"/>
                <a:ea typeface="Arimo"/>
                <a:cs typeface="Arimo"/>
                <a:sym typeface="Arimo"/>
              </a:rPr>
              <a:t>[Name 1]</a:t>
            </a:r>
          </a:p>
        </p:txBody>
      </p:sp>
      <p:sp>
        <p:nvSpPr>
          <p:cNvPr name="TextBox 11" id="11"/>
          <p:cNvSpPr txBox="true"/>
          <p:nvPr/>
        </p:nvSpPr>
        <p:spPr>
          <a:xfrm rot="0">
            <a:off x="1029481" y="7034994"/>
            <a:ext cx="3488788" cy="1429826"/>
          </a:xfrm>
          <a:prstGeom prst="rect">
            <a:avLst/>
          </a:prstGeom>
        </p:spPr>
        <p:txBody>
          <a:bodyPr anchor="t" rtlCol="false" tIns="0" lIns="0" bIns="0" rIns="0">
            <a:spAutoFit/>
          </a:bodyPr>
          <a:lstStyle/>
          <a:p>
            <a:pPr algn="l">
              <a:lnSpc>
                <a:spcPts val="3161"/>
              </a:lnSpc>
            </a:pPr>
            <a:r>
              <a:rPr lang="en-US" sz="2251" b="true">
                <a:solidFill>
                  <a:srgbClr val="000000"/>
                </a:solidFill>
                <a:latin typeface="Arimo Bold"/>
                <a:ea typeface="Arimo Bold"/>
                <a:cs typeface="Arimo Bold"/>
                <a:sym typeface="Arimo Bold"/>
              </a:rPr>
              <a:t>[Role]</a:t>
            </a:r>
          </a:p>
          <a:p>
            <a:pPr algn="l">
              <a:lnSpc>
                <a:spcPts val="3161"/>
              </a:lnSpc>
            </a:pPr>
            <a:r>
              <a:rPr lang="en-US" sz="2251">
                <a:solidFill>
                  <a:srgbClr val="000000"/>
                </a:solidFill>
                <a:latin typeface="Arimo"/>
                <a:ea typeface="Arimo"/>
                <a:cs typeface="Arimo"/>
                <a:sym typeface="Arimo"/>
              </a:rPr>
              <a:t>[Contribution to BMC Academia]</a:t>
            </a:r>
          </a:p>
        </p:txBody>
      </p:sp>
      <p:grpSp>
        <p:nvGrpSpPr>
          <p:cNvPr name="Group 12" id="12"/>
          <p:cNvGrpSpPr/>
          <p:nvPr/>
        </p:nvGrpSpPr>
        <p:grpSpPr>
          <a:xfrm rot="0">
            <a:off x="5013941" y="2099072"/>
            <a:ext cx="4022588" cy="6844741"/>
            <a:chOff x="0" y="0"/>
            <a:chExt cx="5363451" cy="9126322"/>
          </a:xfrm>
        </p:grpSpPr>
        <p:sp>
          <p:nvSpPr>
            <p:cNvPr name="Freeform 13" id="13"/>
            <p:cNvSpPr/>
            <p:nvPr/>
          </p:nvSpPr>
          <p:spPr>
            <a:xfrm flipH="false" flipV="false" rot="0">
              <a:off x="0" y="0"/>
              <a:ext cx="5363464" cy="9126348"/>
            </a:xfrm>
            <a:custGeom>
              <a:avLst/>
              <a:gdLst/>
              <a:ahLst/>
              <a:cxnLst/>
              <a:rect r="r" b="b" t="t" l="l"/>
              <a:pathLst>
                <a:path h="9126348" w="5363464">
                  <a:moveTo>
                    <a:pt x="0" y="343154"/>
                  </a:moveTo>
                  <a:cubicBezTo>
                    <a:pt x="0" y="153670"/>
                    <a:pt x="153670" y="0"/>
                    <a:pt x="343154" y="0"/>
                  </a:cubicBezTo>
                  <a:lnTo>
                    <a:pt x="5020310" y="0"/>
                  </a:lnTo>
                  <a:cubicBezTo>
                    <a:pt x="5209794" y="0"/>
                    <a:pt x="5363464" y="153670"/>
                    <a:pt x="5363464" y="343154"/>
                  </a:cubicBezTo>
                  <a:lnTo>
                    <a:pt x="5363464" y="8783193"/>
                  </a:lnTo>
                  <a:cubicBezTo>
                    <a:pt x="5363464" y="8972677"/>
                    <a:pt x="5209794" y="9126348"/>
                    <a:pt x="5020310" y="9126348"/>
                  </a:cubicBezTo>
                  <a:lnTo>
                    <a:pt x="343154" y="9126348"/>
                  </a:lnTo>
                  <a:cubicBezTo>
                    <a:pt x="153670" y="9126347"/>
                    <a:pt x="0" y="8972677"/>
                    <a:pt x="0" y="8783193"/>
                  </a:cubicBezTo>
                  <a:close/>
                </a:path>
              </a:pathLst>
            </a:custGeom>
            <a:solidFill>
              <a:srgbClr val="BDE7FF"/>
            </a:solidFill>
          </p:spPr>
        </p:sp>
      </p:grpSp>
      <p:grpSp>
        <p:nvGrpSpPr>
          <p:cNvPr name="Group 14" id="14"/>
          <p:cNvGrpSpPr/>
          <p:nvPr/>
        </p:nvGrpSpPr>
        <p:grpSpPr>
          <a:xfrm rot="0">
            <a:off x="5013941" y="2099072"/>
            <a:ext cx="4022588" cy="4106847"/>
            <a:chOff x="0" y="0"/>
            <a:chExt cx="5363451" cy="5475796"/>
          </a:xfrm>
        </p:grpSpPr>
        <p:sp>
          <p:nvSpPr>
            <p:cNvPr name="Freeform 15" id="15" descr="preencoded.png"/>
            <p:cNvSpPr/>
            <p:nvPr/>
          </p:nvSpPr>
          <p:spPr>
            <a:xfrm flipH="false" flipV="false" rot="0">
              <a:off x="0" y="0"/>
              <a:ext cx="5363464" cy="5475859"/>
            </a:xfrm>
            <a:custGeom>
              <a:avLst/>
              <a:gdLst/>
              <a:ahLst/>
              <a:cxnLst/>
              <a:rect r="r" b="b" t="t" l="l"/>
              <a:pathLst>
                <a:path h="5475859" w="5363464">
                  <a:moveTo>
                    <a:pt x="0" y="0"/>
                  </a:moveTo>
                  <a:lnTo>
                    <a:pt x="5363464" y="0"/>
                  </a:lnTo>
                  <a:lnTo>
                    <a:pt x="5363464" y="5475859"/>
                  </a:lnTo>
                  <a:lnTo>
                    <a:pt x="0" y="5475859"/>
                  </a:lnTo>
                  <a:lnTo>
                    <a:pt x="0" y="0"/>
                  </a:lnTo>
                  <a:close/>
                </a:path>
              </a:pathLst>
            </a:custGeom>
            <a:blipFill>
              <a:blip r:embed="rId4"/>
              <a:stretch>
                <a:fillRect l="0" t="-16" r="0" b="-15"/>
              </a:stretch>
            </a:blipFill>
          </p:spPr>
        </p:sp>
      </p:grpSp>
      <p:sp>
        <p:nvSpPr>
          <p:cNvPr name="TextBox 16" id="16"/>
          <p:cNvSpPr txBox="true"/>
          <p:nvPr/>
        </p:nvSpPr>
        <p:spPr>
          <a:xfrm rot="0">
            <a:off x="5280841" y="6463303"/>
            <a:ext cx="3488788" cy="414357"/>
          </a:xfrm>
          <a:prstGeom prst="rect">
            <a:avLst/>
          </a:prstGeom>
        </p:spPr>
        <p:txBody>
          <a:bodyPr anchor="t" rtlCol="false" tIns="0" lIns="0" bIns="0" rIns="0">
            <a:spAutoFit/>
          </a:bodyPr>
          <a:lstStyle/>
          <a:p>
            <a:pPr algn="l">
              <a:lnSpc>
                <a:spcPts val="3177"/>
              </a:lnSpc>
            </a:pPr>
            <a:r>
              <a:rPr lang="en-US" sz="2702">
                <a:solidFill>
                  <a:srgbClr val="000000"/>
                </a:solidFill>
                <a:latin typeface="Arimo"/>
                <a:ea typeface="Arimo"/>
                <a:cs typeface="Arimo"/>
                <a:sym typeface="Arimo"/>
              </a:rPr>
              <a:t>[Name 2]</a:t>
            </a:r>
          </a:p>
        </p:txBody>
      </p:sp>
      <p:sp>
        <p:nvSpPr>
          <p:cNvPr name="TextBox 17" id="17"/>
          <p:cNvSpPr txBox="true"/>
          <p:nvPr/>
        </p:nvSpPr>
        <p:spPr>
          <a:xfrm rot="0">
            <a:off x="5280841" y="7034994"/>
            <a:ext cx="3488788" cy="1429826"/>
          </a:xfrm>
          <a:prstGeom prst="rect">
            <a:avLst/>
          </a:prstGeom>
        </p:spPr>
        <p:txBody>
          <a:bodyPr anchor="t" rtlCol="false" tIns="0" lIns="0" bIns="0" rIns="0">
            <a:spAutoFit/>
          </a:bodyPr>
          <a:lstStyle/>
          <a:p>
            <a:pPr algn="l">
              <a:lnSpc>
                <a:spcPts val="3161"/>
              </a:lnSpc>
            </a:pPr>
            <a:r>
              <a:rPr lang="en-US" sz="2251" b="true">
                <a:solidFill>
                  <a:srgbClr val="000000"/>
                </a:solidFill>
                <a:latin typeface="Arimo Bold"/>
                <a:ea typeface="Arimo Bold"/>
                <a:cs typeface="Arimo Bold"/>
                <a:sym typeface="Arimo Bold"/>
              </a:rPr>
              <a:t>[Role]</a:t>
            </a:r>
          </a:p>
          <a:p>
            <a:pPr algn="l">
              <a:lnSpc>
                <a:spcPts val="3161"/>
              </a:lnSpc>
            </a:pPr>
            <a:r>
              <a:rPr lang="en-US" sz="2251">
                <a:solidFill>
                  <a:srgbClr val="000000"/>
                </a:solidFill>
                <a:latin typeface="Arimo"/>
                <a:ea typeface="Arimo"/>
                <a:cs typeface="Arimo"/>
                <a:sym typeface="Arimo"/>
              </a:rPr>
              <a:t>[Contribution to BMC Academia]</a:t>
            </a:r>
          </a:p>
        </p:txBody>
      </p:sp>
      <p:grpSp>
        <p:nvGrpSpPr>
          <p:cNvPr name="Group 18" id="18"/>
          <p:cNvGrpSpPr/>
          <p:nvPr/>
        </p:nvGrpSpPr>
        <p:grpSpPr>
          <a:xfrm rot="0">
            <a:off x="9265310" y="2099072"/>
            <a:ext cx="4022588" cy="6844741"/>
            <a:chOff x="0" y="0"/>
            <a:chExt cx="5363451" cy="9126322"/>
          </a:xfrm>
        </p:grpSpPr>
        <p:sp>
          <p:nvSpPr>
            <p:cNvPr name="Freeform 19" id="19"/>
            <p:cNvSpPr/>
            <p:nvPr/>
          </p:nvSpPr>
          <p:spPr>
            <a:xfrm flipH="false" flipV="false" rot="0">
              <a:off x="0" y="0"/>
              <a:ext cx="5363464" cy="9126348"/>
            </a:xfrm>
            <a:custGeom>
              <a:avLst/>
              <a:gdLst/>
              <a:ahLst/>
              <a:cxnLst/>
              <a:rect r="r" b="b" t="t" l="l"/>
              <a:pathLst>
                <a:path h="9126348" w="5363464">
                  <a:moveTo>
                    <a:pt x="0" y="343154"/>
                  </a:moveTo>
                  <a:cubicBezTo>
                    <a:pt x="0" y="153670"/>
                    <a:pt x="153670" y="0"/>
                    <a:pt x="343154" y="0"/>
                  </a:cubicBezTo>
                  <a:lnTo>
                    <a:pt x="5020310" y="0"/>
                  </a:lnTo>
                  <a:cubicBezTo>
                    <a:pt x="5209794" y="0"/>
                    <a:pt x="5363464" y="153670"/>
                    <a:pt x="5363464" y="343154"/>
                  </a:cubicBezTo>
                  <a:lnTo>
                    <a:pt x="5363464" y="8783193"/>
                  </a:lnTo>
                  <a:cubicBezTo>
                    <a:pt x="5363464" y="8972677"/>
                    <a:pt x="5209794" y="9126348"/>
                    <a:pt x="5020310" y="9126348"/>
                  </a:cubicBezTo>
                  <a:lnTo>
                    <a:pt x="343154" y="9126348"/>
                  </a:lnTo>
                  <a:cubicBezTo>
                    <a:pt x="153670" y="9126347"/>
                    <a:pt x="0" y="8972677"/>
                    <a:pt x="0" y="8783193"/>
                  </a:cubicBezTo>
                  <a:close/>
                </a:path>
              </a:pathLst>
            </a:custGeom>
            <a:solidFill>
              <a:srgbClr val="BDE7FF"/>
            </a:solidFill>
          </p:spPr>
        </p:sp>
      </p:grpSp>
      <p:grpSp>
        <p:nvGrpSpPr>
          <p:cNvPr name="Group 20" id="20"/>
          <p:cNvGrpSpPr/>
          <p:nvPr/>
        </p:nvGrpSpPr>
        <p:grpSpPr>
          <a:xfrm rot="0">
            <a:off x="9265310" y="2099072"/>
            <a:ext cx="4022588" cy="4106847"/>
            <a:chOff x="0" y="0"/>
            <a:chExt cx="5363451" cy="5475796"/>
          </a:xfrm>
        </p:grpSpPr>
        <p:sp>
          <p:nvSpPr>
            <p:cNvPr name="Freeform 21" id="21" descr="preencoded.png"/>
            <p:cNvSpPr/>
            <p:nvPr/>
          </p:nvSpPr>
          <p:spPr>
            <a:xfrm flipH="false" flipV="false" rot="0">
              <a:off x="0" y="0"/>
              <a:ext cx="5363464" cy="5475859"/>
            </a:xfrm>
            <a:custGeom>
              <a:avLst/>
              <a:gdLst/>
              <a:ahLst/>
              <a:cxnLst/>
              <a:rect r="r" b="b" t="t" l="l"/>
              <a:pathLst>
                <a:path h="5475859" w="5363464">
                  <a:moveTo>
                    <a:pt x="0" y="0"/>
                  </a:moveTo>
                  <a:lnTo>
                    <a:pt x="5363464" y="0"/>
                  </a:lnTo>
                  <a:lnTo>
                    <a:pt x="5363464" y="5475859"/>
                  </a:lnTo>
                  <a:lnTo>
                    <a:pt x="0" y="5475859"/>
                  </a:lnTo>
                  <a:lnTo>
                    <a:pt x="0" y="0"/>
                  </a:lnTo>
                  <a:close/>
                </a:path>
              </a:pathLst>
            </a:custGeom>
            <a:blipFill>
              <a:blip r:embed="rId5"/>
              <a:stretch>
                <a:fillRect l="0" t="-16" r="0" b="-15"/>
              </a:stretch>
            </a:blipFill>
          </p:spPr>
        </p:sp>
      </p:grpSp>
      <p:sp>
        <p:nvSpPr>
          <p:cNvPr name="TextBox 22" id="22"/>
          <p:cNvSpPr txBox="true"/>
          <p:nvPr/>
        </p:nvSpPr>
        <p:spPr>
          <a:xfrm rot="0">
            <a:off x="9532210" y="6463303"/>
            <a:ext cx="3488788" cy="414357"/>
          </a:xfrm>
          <a:prstGeom prst="rect">
            <a:avLst/>
          </a:prstGeom>
        </p:spPr>
        <p:txBody>
          <a:bodyPr anchor="t" rtlCol="false" tIns="0" lIns="0" bIns="0" rIns="0">
            <a:spAutoFit/>
          </a:bodyPr>
          <a:lstStyle/>
          <a:p>
            <a:pPr algn="l">
              <a:lnSpc>
                <a:spcPts val="3177"/>
              </a:lnSpc>
            </a:pPr>
            <a:r>
              <a:rPr lang="en-US" sz="2702">
                <a:solidFill>
                  <a:srgbClr val="000000"/>
                </a:solidFill>
                <a:latin typeface="Arimo"/>
                <a:ea typeface="Arimo"/>
                <a:cs typeface="Arimo"/>
                <a:sym typeface="Arimo"/>
              </a:rPr>
              <a:t>[Name 3]</a:t>
            </a:r>
          </a:p>
        </p:txBody>
      </p:sp>
      <p:sp>
        <p:nvSpPr>
          <p:cNvPr name="TextBox 23" id="23"/>
          <p:cNvSpPr txBox="true"/>
          <p:nvPr/>
        </p:nvSpPr>
        <p:spPr>
          <a:xfrm rot="0">
            <a:off x="9532210" y="7034994"/>
            <a:ext cx="3488788" cy="1429826"/>
          </a:xfrm>
          <a:prstGeom prst="rect">
            <a:avLst/>
          </a:prstGeom>
        </p:spPr>
        <p:txBody>
          <a:bodyPr anchor="t" rtlCol="false" tIns="0" lIns="0" bIns="0" rIns="0">
            <a:spAutoFit/>
          </a:bodyPr>
          <a:lstStyle/>
          <a:p>
            <a:pPr algn="l">
              <a:lnSpc>
                <a:spcPts val="3161"/>
              </a:lnSpc>
            </a:pPr>
            <a:r>
              <a:rPr lang="en-US" sz="2251" b="true">
                <a:solidFill>
                  <a:srgbClr val="000000"/>
                </a:solidFill>
                <a:latin typeface="Arimo Bold"/>
                <a:ea typeface="Arimo Bold"/>
                <a:cs typeface="Arimo Bold"/>
                <a:sym typeface="Arimo Bold"/>
              </a:rPr>
              <a:t>[Role]</a:t>
            </a:r>
          </a:p>
          <a:p>
            <a:pPr algn="l">
              <a:lnSpc>
                <a:spcPts val="3161"/>
              </a:lnSpc>
            </a:pPr>
            <a:r>
              <a:rPr lang="en-US" sz="2251">
                <a:solidFill>
                  <a:srgbClr val="000000"/>
                </a:solidFill>
                <a:latin typeface="Arimo"/>
                <a:ea typeface="Arimo"/>
                <a:cs typeface="Arimo"/>
                <a:sym typeface="Arimo"/>
              </a:rPr>
              <a:t>[Contribution to BMC Academia]</a:t>
            </a:r>
          </a:p>
        </p:txBody>
      </p:sp>
      <p:grpSp>
        <p:nvGrpSpPr>
          <p:cNvPr name="Group 24" id="24"/>
          <p:cNvGrpSpPr/>
          <p:nvPr/>
        </p:nvGrpSpPr>
        <p:grpSpPr>
          <a:xfrm rot="0">
            <a:off x="13516670" y="2099072"/>
            <a:ext cx="4022588" cy="6844741"/>
            <a:chOff x="0" y="0"/>
            <a:chExt cx="5363451" cy="9126322"/>
          </a:xfrm>
        </p:grpSpPr>
        <p:sp>
          <p:nvSpPr>
            <p:cNvPr name="Freeform 25" id="25"/>
            <p:cNvSpPr/>
            <p:nvPr/>
          </p:nvSpPr>
          <p:spPr>
            <a:xfrm flipH="false" flipV="false" rot="0">
              <a:off x="0" y="0"/>
              <a:ext cx="5363464" cy="9126348"/>
            </a:xfrm>
            <a:custGeom>
              <a:avLst/>
              <a:gdLst/>
              <a:ahLst/>
              <a:cxnLst/>
              <a:rect r="r" b="b" t="t" l="l"/>
              <a:pathLst>
                <a:path h="9126348" w="5363464">
                  <a:moveTo>
                    <a:pt x="0" y="343154"/>
                  </a:moveTo>
                  <a:cubicBezTo>
                    <a:pt x="0" y="153670"/>
                    <a:pt x="153670" y="0"/>
                    <a:pt x="343154" y="0"/>
                  </a:cubicBezTo>
                  <a:lnTo>
                    <a:pt x="5020310" y="0"/>
                  </a:lnTo>
                  <a:cubicBezTo>
                    <a:pt x="5209794" y="0"/>
                    <a:pt x="5363464" y="153670"/>
                    <a:pt x="5363464" y="343154"/>
                  </a:cubicBezTo>
                  <a:lnTo>
                    <a:pt x="5363464" y="8783193"/>
                  </a:lnTo>
                  <a:cubicBezTo>
                    <a:pt x="5363464" y="8972677"/>
                    <a:pt x="5209794" y="9126348"/>
                    <a:pt x="5020310" y="9126348"/>
                  </a:cubicBezTo>
                  <a:lnTo>
                    <a:pt x="343154" y="9126348"/>
                  </a:lnTo>
                  <a:cubicBezTo>
                    <a:pt x="153670" y="9126347"/>
                    <a:pt x="0" y="8972677"/>
                    <a:pt x="0" y="8783193"/>
                  </a:cubicBezTo>
                  <a:close/>
                </a:path>
              </a:pathLst>
            </a:custGeom>
            <a:solidFill>
              <a:srgbClr val="BDE7FF"/>
            </a:solidFill>
          </p:spPr>
        </p:sp>
      </p:grpSp>
      <p:grpSp>
        <p:nvGrpSpPr>
          <p:cNvPr name="Group 26" id="26"/>
          <p:cNvGrpSpPr/>
          <p:nvPr/>
        </p:nvGrpSpPr>
        <p:grpSpPr>
          <a:xfrm rot="0">
            <a:off x="13516670" y="2099072"/>
            <a:ext cx="4022588" cy="4106847"/>
            <a:chOff x="0" y="0"/>
            <a:chExt cx="5363451" cy="5475796"/>
          </a:xfrm>
        </p:grpSpPr>
        <p:sp>
          <p:nvSpPr>
            <p:cNvPr name="Freeform 27" id="27" descr="preencoded.png"/>
            <p:cNvSpPr/>
            <p:nvPr/>
          </p:nvSpPr>
          <p:spPr>
            <a:xfrm flipH="false" flipV="false" rot="0">
              <a:off x="0" y="0"/>
              <a:ext cx="5363464" cy="5475859"/>
            </a:xfrm>
            <a:custGeom>
              <a:avLst/>
              <a:gdLst/>
              <a:ahLst/>
              <a:cxnLst/>
              <a:rect r="r" b="b" t="t" l="l"/>
              <a:pathLst>
                <a:path h="5475859" w="5363464">
                  <a:moveTo>
                    <a:pt x="0" y="0"/>
                  </a:moveTo>
                  <a:lnTo>
                    <a:pt x="5363464" y="0"/>
                  </a:lnTo>
                  <a:lnTo>
                    <a:pt x="5363464" y="5475859"/>
                  </a:lnTo>
                  <a:lnTo>
                    <a:pt x="0" y="5475859"/>
                  </a:lnTo>
                  <a:lnTo>
                    <a:pt x="0" y="0"/>
                  </a:lnTo>
                  <a:close/>
                </a:path>
              </a:pathLst>
            </a:custGeom>
            <a:blipFill>
              <a:blip r:embed="rId6"/>
              <a:stretch>
                <a:fillRect l="0" t="-16" r="0" b="-15"/>
              </a:stretch>
            </a:blipFill>
          </p:spPr>
        </p:sp>
      </p:grpSp>
      <p:sp>
        <p:nvSpPr>
          <p:cNvPr name="TextBox 28" id="28"/>
          <p:cNvSpPr txBox="true"/>
          <p:nvPr/>
        </p:nvSpPr>
        <p:spPr>
          <a:xfrm rot="0">
            <a:off x="13783570" y="6463303"/>
            <a:ext cx="3488788" cy="414357"/>
          </a:xfrm>
          <a:prstGeom prst="rect">
            <a:avLst/>
          </a:prstGeom>
        </p:spPr>
        <p:txBody>
          <a:bodyPr anchor="t" rtlCol="false" tIns="0" lIns="0" bIns="0" rIns="0">
            <a:spAutoFit/>
          </a:bodyPr>
          <a:lstStyle/>
          <a:p>
            <a:pPr algn="l">
              <a:lnSpc>
                <a:spcPts val="3177"/>
              </a:lnSpc>
            </a:pPr>
            <a:r>
              <a:rPr lang="en-US" sz="2702">
                <a:solidFill>
                  <a:srgbClr val="000000"/>
                </a:solidFill>
                <a:latin typeface="Arimo"/>
                <a:ea typeface="Arimo"/>
                <a:cs typeface="Arimo"/>
                <a:sym typeface="Arimo"/>
              </a:rPr>
              <a:t>[Name 4]</a:t>
            </a:r>
          </a:p>
        </p:txBody>
      </p:sp>
      <p:sp>
        <p:nvSpPr>
          <p:cNvPr name="TextBox 29" id="29"/>
          <p:cNvSpPr txBox="true"/>
          <p:nvPr/>
        </p:nvSpPr>
        <p:spPr>
          <a:xfrm rot="0">
            <a:off x="13783570" y="7034994"/>
            <a:ext cx="3488788" cy="1429826"/>
          </a:xfrm>
          <a:prstGeom prst="rect">
            <a:avLst/>
          </a:prstGeom>
        </p:spPr>
        <p:txBody>
          <a:bodyPr anchor="t" rtlCol="false" tIns="0" lIns="0" bIns="0" rIns="0">
            <a:spAutoFit/>
          </a:bodyPr>
          <a:lstStyle/>
          <a:p>
            <a:pPr algn="l">
              <a:lnSpc>
                <a:spcPts val="3161"/>
              </a:lnSpc>
            </a:pPr>
            <a:r>
              <a:rPr lang="en-US" sz="2251" b="true">
                <a:solidFill>
                  <a:srgbClr val="000000"/>
                </a:solidFill>
                <a:latin typeface="Arimo Bold"/>
                <a:ea typeface="Arimo Bold"/>
                <a:cs typeface="Arimo Bold"/>
                <a:sym typeface="Arimo Bold"/>
              </a:rPr>
              <a:t>[Role]</a:t>
            </a:r>
          </a:p>
          <a:p>
            <a:pPr algn="l">
              <a:lnSpc>
                <a:spcPts val="3161"/>
              </a:lnSpc>
            </a:pPr>
            <a:r>
              <a:rPr lang="en-US" sz="2251">
                <a:solidFill>
                  <a:srgbClr val="000000"/>
                </a:solidFill>
                <a:latin typeface="Arimo"/>
                <a:ea typeface="Arimo"/>
                <a:cs typeface="Arimo"/>
                <a:sym typeface="Arimo"/>
              </a:rPr>
              <a:t>[Contribution to BMC Academia]</a:t>
            </a:r>
          </a:p>
        </p:txBody>
      </p:sp>
      <p:sp>
        <p:nvSpPr>
          <p:cNvPr name="TextBox 30" id="30"/>
          <p:cNvSpPr txBox="true"/>
          <p:nvPr/>
        </p:nvSpPr>
        <p:spPr>
          <a:xfrm rot="0">
            <a:off x="762581" y="9153582"/>
            <a:ext cx="17539268" cy="378866"/>
          </a:xfrm>
          <a:prstGeom prst="rect">
            <a:avLst/>
          </a:prstGeom>
        </p:spPr>
        <p:txBody>
          <a:bodyPr anchor="t" rtlCol="false" tIns="0" lIns="0" bIns="0" rIns="0">
            <a:spAutoFit/>
          </a:bodyPr>
          <a:lstStyle/>
          <a:p>
            <a:pPr algn="l">
              <a:lnSpc>
                <a:spcPts val="2521"/>
              </a:lnSpc>
            </a:pPr>
            <a:r>
              <a:rPr lang="en-US" sz="1876">
                <a:solidFill>
                  <a:srgbClr val="000000"/>
                </a:solidFill>
                <a:latin typeface="Arimo"/>
                <a:ea typeface="Arimo"/>
                <a:cs typeface="Arimo"/>
                <a:sym typeface="Arimo"/>
              </a:rPr>
              <a:t>Profile slots are illustrative. Replace with confirmed names, roles, contributions, and individual photographs.</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sp>
        <p:nvSpPr>
          <p:cNvPr name="TextBox 4" id="4"/>
          <p:cNvSpPr txBox="true"/>
          <p:nvPr/>
        </p:nvSpPr>
        <p:spPr>
          <a:xfrm rot="0">
            <a:off x="762581" y="743550"/>
            <a:ext cx="17539268" cy="282083"/>
          </a:xfrm>
          <a:prstGeom prst="rect">
            <a:avLst/>
          </a:prstGeom>
        </p:spPr>
        <p:txBody>
          <a:bodyPr anchor="t" rtlCol="false" tIns="0" lIns="0" bIns="0" rIns="0">
            <a:spAutoFit/>
          </a:bodyPr>
          <a:lstStyle/>
          <a:p>
            <a:pPr algn="l">
              <a:lnSpc>
                <a:spcPts val="2071"/>
              </a:lnSpc>
            </a:pPr>
            <a:r>
              <a:rPr lang="en-US" sz="1726" spc="69">
                <a:solidFill>
                  <a:srgbClr val="000000"/>
                </a:solidFill>
                <a:latin typeface="Arimo"/>
                <a:ea typeface="Arimo"/>
                <a:cs typeface="Arimo"/>
                <a:sym typeface="Arimo"/>
              </a:rPr>
              <a:t>BMC ACADEMIA · OPEN DISCUSSION</a:t>
            </a:r>
          </a:p>
        </p:txBody>
      </p:sp>
      <p:grpSp>
        <p:nvGrpSpPr>
          <p:cNvPr name="Group 5" id="5"/>
          <p:cNvGrpSpPr/>
          <p:nvPr/>
        </p:nvGrpSpPr>
        <p:grpSpPr>
          <a:xfrm rot="0">
            <a:off x="762581" y="1292542"/>
            <a:ext cx="16776687" cy="8239906"/>
            <a:chOff x="0" y="0"/>
            <a:chExt cx="22368916" cy="10986541"/>
          </a:xfrm>
        </p:grpSpPr>
        <p:sp>
          <p:nvSpPr>
            <p:cNvPr name="Freeform 6" id="6"/>
            <p:cNvSpPr/>
            <p:nvPr/>
          </p:nvSpPr>
          <p:spPr>
            <a:xfrm flipH="false" flipV="false" rot="0">
              <a:off x="0" y="0"/>
              <a:ext cx="22369019" cy="10986643"/>
            </a:xfrm>
            <a:custGeom>
              <a:avLst/>
              <a:gdLst/>
              <a:ahLst/>
              <a:cxnLst/>
              <a:rect r="r" b="b" t="t" l="l"/>
              <a:pathLst>
                <a:path h="10986643" w="22369019">
                  <a:moveTo>
                    <a:pt x="0" y="343154"/>
                  </a:moveTo>
                  <a:cubicBezTo>
                    <a:pt x="0" y="153670"/>
                    <a:pt x="153670" y="0"/>
                    <a:pt x="343154" y="0"/>
                  </a:cubicBezTo>
                  <a:lnTo>
                    <a:pt x="22025865" y="0"/>
                  </a:lnTo>
                  <a:cubicBezTo>
                    <a:pt x="22215348" y="0"/>
                    <a:pt x="22369019" y="153670"/>
                    <a:pt x="22369019" y="343154"/>
                  </a:cubicBezTo>
                  <a:lnTo>
                    <a:pt x="22369019" y="10643489"/>
                  </a:lnTo>
                  <a:cubicBezTo>
                    <a:pt x="22369019" y="10832973"/>
                    <a:pt x="22215348" y="10986643"/>
                    <a:pt x="22025865" y="10986643"/>
                  </a:cubicBezTo>
                  <a:lnTo>
                    <a:pt x="343154" y="10986643"/>
                  </a:lnTo>
                  <a:cubicBezTo>
                    <a:pt x="153670" y="10986516"/>
                    <a:pt x="0" y="10832973"/>
                    <a:pt x="0" y="10643489"/>
                  </a:cubicBezTo>
                  <a:close/>
                </a:path>
              </a:pathLst>
            </a:custGeom>
            <a:solidFill>
              <a:srgbClr val="0B2345"/>
            </a:solidFill>
          </p:spPr>
        </p:sp>
      </p:grpSp>
      <p:sp>
        <p:nvSpPr>
          <p:cNvPr name="TextBox 7" id="7"/>
          <p:cNvSpPr txBox="true"/>
          <p:nvPr/>
        </p:nvSpPr>
        <p:spPr>
          <a:xfrm rot="0">
            <a:off x="1525153" y="3867436"/>
            <a:ext cx="15251535" cy="1985791"/>
          </a:xfrm>
          <a:prstGeom prst="rect">
            <a:avLst/>
          </a:prstGeom>
        </p:spPr>
        <p:txBody>
          <a:bodyPr anchor="t" rtlCol="false" tIns="0" lIns="0" bIns="0" rIns="0">
            <a:spAutoFit/>
          </a:bodyPr>
          <a:lstStyle/>
          <a:p>
            <a:pPr algn="l">
              <a:lnSpc>
                <a:spcPts val="8149"/>
              </a:lnSpc>
            </a:pPr>
            <a:r>
              <a:rPr lang="en-US" sz="7806" spc="-234">
                <a:solidFill>
                  <a:srgbClr val="FFFFFF"/>
                </a:solidFill>
                <a:latin typeface="Arimo"/>
                <a:ea typeface="Arimo"/>
                <a:cs typeface="Arimo"/>
                <a:sym typeface="Arimo"/>
              </a:rPr>
              <a:t>Thank You</a:t>
            </a:r>
          </a:p>
          <a:p>
            <a:pPr algn="l">
              <a:lnSpc>
                <a:spcPts val="8149"/>
              </a:lnSpc>
            </a:pPr>
            <a:r>
              <a:rPr lang="en-US" sz="7806" spc="-234">
                <a:solidFill>
                  <a:srgbClr val="FFFFFF"/>
                </a:solidFill>
                <a:latin typeface="Arimo"/>
                <a:ea typeface="Arimo"/>
                <a:cs typeface="Arimo"/>
                <a:sym typeface="Arimo"/>
              </a:rPr>
              <a:t>&amp; Q&amp;A</a:t>
            </a:r>
          </a:p>
        </p:txBody>
      </p:sp>
      <p:sp>
        <p:nvSpPr>
          <p:cNvPr name="TextBox 8" id="8"/>
          <p:cNvSpPr txBox="true"/>
          <p:nvPr/>
        </p:nvSpPr>
        <p:spPr>
          <a:xfrm rot="0">
            <a:off x="1525153" y="6082055"/>
            <a:ext cx="16014106" cy="547021"/>
          </a:xfrm>
          <a:prstGeom prst="rect">
            <a:avLst/>
          </a:prstGeom>
        </p:spPr>
        <p:txBody>
          <a:bodyPr anchor="t" rtlCol="false" tIns="0" lIns="0" bIns="0" rIns="0">
            <a:spAutoFit/>
          </a:bodyPr>
          <a:lstStyle/>
          <a:p>
            <a:pPr algn="l">
              <a:lnSpc>
                <a:spcPts val="3793"/>
              </a:lnSpc>
            </a:pPr>
            <a:r>
              <a:rPr lang="en-US" sz="2702">
                <a:solidFill>
                  <a:srgbClr val="FFFFFF"/>
                </a:solidFill>
                <a:latin typeface="Arimo"/>
                <a:ea typeface="Arimo"/>
                <a:cs typeface="Arimo"/>
                <a:sym typeface="Arimo"/>
              </a:rPr>
              <a:t>The floor is open for questions and feedback from judges, faculty, and the audience.</a:t>
            </a:r>
          </a:p>
        </p:txBody>
      </p:sp>
      <p:sp>
        <p:nvSpPr>
          <p:cNvPr name="TextBox 9" id="9"/>
          <p:cNvSpPr txBox="true"/>
          <p:nvPr/>
        </p:nvSpPr>
        <p:spPr>
          <a:xfrm rot="0">
            <a:off x="1525153" y="8355644"/>
            <a:ext cx="15251535" cy="414357"/>
          </a:xfrm>
          <a:prstGeom prst="rect">
            <a:avLst/>
          </a:prstGeom>
        </p:spPr>
        <p:txBody>
          <a:bodyPr anchor="t" rtlCol="false" tIns="0" lIns="0" bIns="0" rIns="0">
            <a:spAutoFit/>
          </a:bodyPr>
          <a:lstStyle/>
          <a:p>
            <a:pPr algn="l">
              <a:lnSpc>
                <a:spcPts val="3177"/>
              </a:lnSpc>
            </a:pPr>
            <a:r>
              <a:rPr lang="en-US" sz="2702">
                <a:solidFill>
                  <a:srgbClr val="FFFFFF"/>
                </a:solidFill>
                <a:latin typeface="Arimo"/>
                <a:ea typeface="Arimo"/>
                <a:cs typeface="Arimo"/>
                <a:sym typeface="Arimo"/>
              </a:rPr>
              <a:t>Which learning challenge should BMC Academia address first?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DAHXM1RCGSM</dc:identifier>
  <dcterms:modified xsi:type="dcterms:W3CDTF">2011-08-01T06:04:30Z</dcterms:modified>
  <cp:revision>1</cp:revision>
  <dc:title>Pitch.pptx</dc:title>
</cp:coreProperties>
</file>