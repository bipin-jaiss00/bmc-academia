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Figtree"/>
      <p:regular r:id="rId201314"/>
    </p:embeddedFont>
    <p:embeddedFont>
      <p:font typeface="Figtree SemiBold"/>
      <p:regular r:id="rId201315"/>
    </p:embeddedFont>
    <p:embeddedFont>
      <p:font typeface="Figtree Bold"/>
      <p:regular r:id="rId201316"/>
    </p:embeddedFont>
    <p:embeddedFont>
      <p:font typeface="Red Hat Mono Medium"/>
      <p:regular r:id="rId201317"/>
    </p:embeddedFont>
    <p:embeddedFont>
      <p:font typeface="Urbanist SemiBold"/>
      <p:regular r:id="rId201318"/>
    </p:embeddedFont>
    <p:embeddedFont>
      <p:font typeface="Urbanist Extra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BMC Academia. Thank the organizers, teachers, and everyone in the audience for joining us. Today is about one question: how can we help learners make more progress with the time they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the question and give them a moment to answer. The answer is time. Everyone has a limited amount of it, and every choice about learning competes for that same finite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is expanding at a remarkable pace. New subjects, new research, new resources, and new ways to learn are added every day. The opportunity is enormous, but the volume can also feel overwhelming.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two ideas. Knowledge keeps growing, but the learner's available time does not grow with it. The biggest limitation is time, especially for students balancing classes, revision, assignments, and everyday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BMC Academia brings time, knowledge, and learning together in one platform. The aim is simple: make study faster to begin, easier to understand, and more efficient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core study tools: concise notes for understanding, flashcards for revision, past questions and solutions for practice, and resources that keep PDFs, videos, links, and other materials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classroom does not have to stop teaching when the class ends. A smart classroom recording device can automatically record and save lectures, giving students access whenever they need it, especially when they miss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people building BMC Academia. The names, roles, and photos remain placeholders until the team provides the final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Encourage students, teachers, and organizers to share their questions and ideas so BMC Academia can continue to grow around real learning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9F4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2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E9F4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2-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1.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783" y="1117600"/>
            <a:ext cx="5460863" cy="4191000"/>
          </a:xfrm>
          <a:prstGeom prst="roundRect">
            <a:avLst>
              <a:gd name="adj" fmla="val 5091"/>
            </a:avLst>
          </a:prstGeom>
          <a:solidFill>
            <a:srgbClr val="FFFFFF"/>
          </a:solidFill>
          <a:ln/>
        </p:spPr>
      </p:sp>
      <p:sp>
        <p:nvSpPr>
          <p:cNvPr id="3" name="Text 1"/>
          <p:cNvSpPr/>
          <p:nvPr/>
        </p:nvSpPr>
        <p:spPr>
          <a:xfrm>
            <a:off x="1117572" y="1498600"/>
            <a:ext cx="5206870" cy="266700"/>
          </a:xfrm>
          <a:prstGeom prst="rect">
            <a:avLst/>
          </a:prstGeom>
          <a:noFill/>
          <a:ln/>
        </p:spPr>
        <p:txBody>
          <a:bodyPr wrap="none" lIns="0" tIns="0" rIns="0" bIns="0" rtlCol="0" anchor="t"/>
          <a:lstStyle/>
          <a:p>
            <a:pPr algn="l" indent="0" marL="0">
              <a:lnSpc>
                <a:spcPct val="117000"/>
              </a:lnSpc>
              <a:buNone/>
            </a:pPr>
            <a:r>
              <a:rPr lang="en-US" sz="1500" b="1" spc="-7" kern="100" dirty="0">
                <a:solidFill>
                  <a:srgbClr val="1E2A44"/>
                </a:solidFill>
                <a:latin typeface="Figtree Bold" pitchFamily="34" charset="0"/>
                <a:ea typeface="Figtree Bold" pitchFamily="34" charset="-122"/>
                <a:cs typeface="Figtree Bold" pitchFamily="34" charset="-120"/>
              </a:rPr>
              <a:t>BMC COLLEGE</a:t>
            </a:r>
            <a:endParaRPr lang="en-US" sz="1500" dirty="0"/>
          </a:p>
        </p:txBody>
      </p:sp>
      <p:sp>
        <p:nvSpPr>
          <p:cNvPr id="4" name="Text 2"/>
          <p:cNvSpPr/>
          <p:nvPr/>
        </p:nvSpPr>
        <p:spPr>
          <a:xfrm>
            <a:off x="1117572" y="2092325"/>
            <a:ext cx="4597285" cy="1679972"/>
          </a:xfrm>
          <a:prstGeom prst="rect">
            <a:avLst/>
          </a:prstGeom>
          <a:noFill/>
          <a:ln/>
        </p:spPr>
        <p:txBody>
          <a:bodyPr wrap="square" lIns="0" tIns="0" rIns="0" bIns="0" rtlCol="0" anchor="t">
            <a:normAutofit/>
          </a:bodyPr>
          <a:lstStyle/>
          <a:p>
            <a:pPr algn="l" indent="0" marL="0">
              <a:lnSpc>
                <a:spcPct val="87000"/>
              </a:lnSpc>
              <a:buNone/>
            </a:pPr>
            <a:r>
              <a:rPr lang="en-US" sz="4200" spc="-84" kern="100" dirty="0">
                <a:solidFill>
                  <a:srgbClr val="1E2A44"/>
                </a:solidFill>
                <a:latin typeface="Urbanist ExtraBold" pitchFamily="34" charset="0"/>
                <a:ea typeface="Urbanist ExtraBold" pitchFamily="34" charset="-122"/>
                <a:cs typeface="Urbanist ExtraBold" pitchFamily="34" charset="-120"/>
              </a:rPr>
              <a:t>Good Morning —</a:t>
            </a:r>
            <a:endParaRPr lang="en-US" sz="4200" dirty="0"/>
          </a:p>
          <a:p>
            <a:pPr algn="l" indent="0" marL="0">
              <a:lnSpc>
                <a:spcPct val="87000"/>
              </a:lnSpc>
              <a:buNone/>
            </a:pPr>
            <a:r>
              <a:rPr lang="en-US" sz="4200" spc="-84" kern="100" dirty="0">
                <a:solidFill>
                  <a:srgbClr val="1E2A44"/>
                </a:solidFill>
                <a:latin typeface="Urbanist ExtraBold" pitchFamily="34" charset="0"/>
                <a:ea typeface="Urbanist ExtraBold" pitchFamily="34" charset="-122"/>
                <a:cs typeface="Urbanist ExtraBold" pitchFamily="34" charset="-120"/>
              </a:rPr>
              <a:t>Welcome to BMC Academia</a:t>
            </a:r>
            <a:endParaRPr lang="en-US" sz="4200" dirty="0"/>
          </a:p>
        </p:txBody>
      </p:sp>
      <p:pic>
        <p:nvPicPr>
          <p:cNvPr id="5" name="Image 0" descr="preencoded.png">    </p:cNvPr>
          <p:cNvPicPr>
            <a:picLocks noChangeAspect="1"/>
          </p:cNvPicPr>
          <p:nvPr/>
        </p:nvPicPr>
        <p:blipFill>
          <a:blip r:embed="rId1"/>
          <a:stretch>
            <a:fillRect/>
          </a:stretch>
        </p:blipFill>
        <p:spPr>
          <a:xfrm>
            <a:off x="1117572" y="3962797"/>
            <a:ext cx="4597285" cy="123825"/>
          </a:xfrm>
          <a:prstGeom prst="rect">
            <a:avLst/>
          </a:prstGeom>
        </p:spPr>
      </p:pic>
      <p:sp>
        <p:nvSpPr>
          <p:cNvPr id="6" name="Text 3"/>
          <p:cNvSpPr/>
          <p:nvPr/>
        </p:nvSpPr>
        <p:spPr>
          <a:xfrm>
            <a:off x="1117572" y="4258072"/>
            <a:ext cx="4597285"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Thank you to our organizers, teachers, and audience for joining us.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196876"/>
            <a:ext cx="4470288"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QUESTION</a:t>
            </a:r>
            <a:endParaRPr lang="en-US" sz="1100" dirty="0"/>
          </a:p>
        </p:txBody>
      </p:sp>
      <p:sp>
        <p:nvSpPr>
          <p:cNvPr id="3" name="Text 1"/>
          <p:cNvSpPr/>
          <p:nvPr/>
        </p:nvSpPr>
        <p:spPr>
          <a:xfrm>
            <a:off x="609585" y="1447701"/>
            <a:ext cx="3860703" cy="2453481"/>
          </a:xfrm>
          <a:prstGeom prst="rect">
            <a:avLst/>
          </a:prstGeom>
          <a:noFill/>
          <a:ln/>
        </p:spPr>
        <p:txBody>
          <a:bodyPr wrap="square" lIns="0" tIns="0" rIns="0" bIns="0" rtlCol="0" anchor="t">
            <a:normAutofit/>
          </a:bodyPr>
          <a:lstStyle/>
          <a:p>
            <a:pPr algn="l" indent="0" marL="0">
              <a:lnSpc>
                <a:spcPct val="88000"/>
              </a:lnSpc>
              <a:buNone/>
            </a:pPr>
            <a:r>
              <a:rPr lang="en-US" sz="4600" spc="-92" kern="100" dirty="0">
                <a:solidFill>
                  <a:srgbClr val="1E2A44"/>
                </a:solidFill>
                <a:latin typeface="Urbanist ExtraBold" pitchFamily="34" charset="0"/>
                <a:ea typeface="Urbanist ExtraBold" pitchFamily="34" charset="-122"/>
                <a:cs typeface="Urbanist ExtraBold" pitchFamily="34" charset="-120"/>
              </a:rPr>
              <a:t>Time is every person’s most important asset</a:t>
            </a:r>
            <a:endParaRPr lang="en-US" sz="4600" dirty="0"/>
          </a:p>
        </p:txBody>
      </p:sp>
      <p:sp>
        <p:nvSpPr>
          <p:cNvPr id="4" name="Text 2"/>
          <p:cNvSpPr/>
          <p:nvPr/>
        </p:nvSpPr>
        <p:spPr>
          <a:xfrm>
            <a:off x="609585" y="4093964"/>
            <a:ext cx="3860703"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E2A44"/>
                </a:solidFill>
                <a:latin typeface="Figtree" pitchFamily="34" charset="0"/>
                <a:ea typeface="Figtree" pitchFamily="34" charset="-122"/>
                <a:cs typeface="Figtree" pitchFamily="34" charset="-120"/>
              </a:rPr>
              <a:t>What is the most important asset for every person?</a:t>
            </a:r>
            <a:endParaRPr lang="en-US" sz="1800" dirty="0"/>
          </a:p>
        </p:txBody>
      </p:sp>
      <p:pic>
        <p:nvPicPr>
          <p:cNvPr id="5" name="Image 0" descr="preencoded.png">    </p:cNvPr>
          <p:cNvPicPr>
            <a:picLocks noChangeAspect="1"/>
          </p:cNvPicPr>
          <p:nvPr/>
        </p:nvPicPr>
        <p:blipFill>
          <a:blip r:embed="rId1"/>
          <a:stretch>
            <a:fillRect/>
          </a:stretch>
        </p:blipFill>
        <p:spPr>
          <a:xfrm>
            <a:off x="609585" y="4905375"/>
            <a:ext cx="3860703" cy="123825"/>
          </a:xfrm>
          <a:prstGeom prst="rect">
            <a:avLst/>
          </a:prstGeom>
        </p:spPr>
      </p:pic>
      <p:sp>
        <p:nvSpPr>
          <p:cNvPr id="6" name="Text 3"/>
          <p:cNvSpPr/>
          <p:nvPr/>
        </p:nvSpPr>
        <p:spPr>
          <a:xfrm>
            <a:off x="609585" y="5356225"/>
            <a:ext cx="3860703"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Time.</a:t>
            </a:r>
            <a:endParaRPr lang="en-US" sz="2000" dirty="0"/>
          </a:p>
        </p:txBody>
      </p:sp>
      <p:pic>
        <p:nvPicPr>
          <p:cNvPr id="7" name="Image 1" descr="preencoded.png">    </p:cNvPr>
          <p:cNvPicPr>
            <a:picLocks noChangeAspect="1"/>
          </p:cNvPicPr>
          <p:nvPr/>
        </p:nvPicPr>
        <p:blipFill>
          <a:blip r:embed="rId2"/>
          <a:stretch>
            <a:fillRect/>
          </a:stretch>
        </p:blipFill>
        <p:spPr>
          <a:xfrm>
            <a:off x="5079873" y="0"/>
            <a:ext cx="711182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111822" cy="6858000"/>
          </a:xfrm>
          <a:prstGeom prst="rect">
            <a:avLst/>
          </a:prstGeom>
        </p:spPr>
      </p:pic>
      <p:sp>
        <p:nvSpPr>
          <p:cNvPr id="3" name="Text 0"/>
          <p:cNvSpPr/>
          <p:nvPr/>
        </p:nvSpPr>
        <p:spPr>
          <a:xfrm>
            <a:off x="7721407" y="1503561"/>
            <a:ext cx="4470288"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CHALLENGE</a:t>
            </a:r>
            <a:endParaRPr lang="en-US" sz="1100" dirty="0"/>
          </a:p>
        </p:txBody>
      </p:sp>
      <p:sp>
        <p:nvSpPr>
          <p:cNvPr id="4" name="Text 1"/>
          <p:cNvSpPr/>
          <p:nvPr/>
        </p:nvSpPr>
        <p:spPr>
          <a:xfrm>
            <a:off x="7721407" y="1754386"/>
            <a:ext cx="3860703" cy="1840111"/>
          </a:xfrm>
          <a:prstGeom prst="rect">
            <a:avLst/>
          </a:prstGeom>
          <a:noFill/>
          <a:ln/>
        </p:spPr>
        <p:txBody>
          <a:bodyPr wrap="square" lIns="0" tIns="0" rIns="0" bIns="0" rtlCol="0" anchor="t">
            <a:normAutofit/>
          </a:bodyPr>
          <a:lstStyle/>
          <a:p>
            <a:pPr algn="l" indent="0" marL="0">
              <a:lnSpc>
                <a:spcPct val="88000"/>
              </a:lnSpc>
              <a:buNone/>
            </a:pPr>
            <a:r>
              <a:rPr lang="en-US" sz="4600" spc="-92" kern="100" dirty="0">
                <a:solidFill>
                  <a:srgbClr val="1E2A44"/>
                </a:solidFill>
                <a:latin typeface="Urbanist ExtraBold" pitchFamily="34" charset="0"/>
                <a:ea typeface="Urbanist ExtraBold" pitchFamily="34" charset="-122"/>
                <a:cs typeface="Urbanist ExtraBold" pitchFamily="34" charset="-120"/>
              </a:rPr>
              <a:t>Knowledge has grown exponentially</a:t>
            </a:r>
            <a:endParaRPr lang="en-US" sz="4600" dirty="0"/>
          </a:p>
        </p:txBody>
      </p:sp>
      <p:sp>
        <p:nvSpPr>
          <p:cNvPr id="5" name="Text 2"/>
          <p:cNvSpPr/>
          <p:nvPr/>
        </p:nvSpPr>
        <p:spPr>
          <a:xfrm>
            <a:off x="7721407" y="3787279"/>
            <a:ext cx="3860703"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E2A44"/>
                </a:solidFill>
                <a:latin typeface="Figtree" pitchFamily="34" charset="0"/>
                <a:ea typeface="Figtree" pitchFamily="34" charset="-122"/>
                <a:cs typeface="Figtree" pitchFamily="34" charset="-120"/>
              </a:rPr>
              <a:t>What has grown exponentially over the past decades?</a:t>
            </a:r>
            <a:endParaRPr lang="en-US" sz="1800" dirty="0"/>
          </a:p>
        </p:txBody>
      </p:sp>
      <p:pic>
        <p:nvPicPr>
          <p:cNvPr id="6" name="Image 1" descr="preencoded.png">    </p:cNvPr>
          <p:cNvPicPr>
            <a:picLocks noChangeAspect="1"/>
          </p:cNvPicPr>
          <p:nvPr/>
        </p:nvPicPr>
        <p:blipFill>
          <a:blip r:embed="rId2"/>
          <a:stretch>
            <a:fillRect/>
          </a:stretch>
        </p:blipFill>
        <p:spPr>
          <a:xfrm>
            <a:off x="7721407" y="4598690"/>
            <a:ext cx="3860703" cy="123825"/>
          </a:xfrm>
          <a:prstGeom prst="rect">
            <a:avLst/>
          </a:prstGeom>
        </p:spPr>
      </p:pic>
      <p:sp>
        <p:nvSpPr>
          <p:cNvPr id="7" name="Text 3"/>
          <p:cNvSpPr/>
          <p:nvPr/>
        </p:nvSpPr>
        <p:spPr>
          <a:xfrm>
            <a:off x="7721407" y="5049540"/>
            <a:ext cx="3860703"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Knowledge.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1749425"/>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TENSION</a:t>
            </a:r>
            <a:endParaRPr lang="en-US" sz="1100" dirty="0"/>
          </a:p>
        </p:txBody>
      </p:sp>
      <p:sp>
        <p:nvSpPr>
          <p:cNvPr id="3" name="Text 1"/>
          <p:cNvSpPr/>
          <p:nvPr/>
        </p:nvSpPr>
        <p:spPr>
          <a:xfrm>
            <a:off x="609585" y="2000250"/>
            <a:ext cx="10972526" cy="1625600"/>
          </a:xfrm>
          <a:prstGeom prst="rect">
            <a:avLst/>
          </a:prstGeom>
          <a:noFill/>
          <a:ln/>
        </p:spPr>
        <p:txBody>
          <a:bodyPr wrap="square" lIns="0" tIns="0" rIns="0" bIns="0" rtlCol="0" anchor="t">
            <a:normAutofit/>
          </a:bodyPr>
          <a:lstStyle/>
          <a:p>
            <a:pPr algn="l" indent="0" marL="0">
              <a:lnSpc>
                <a:spcPct val="83000"/>
              </a:lnSpc>
              <a:buNone/>
            </a:pPr>
            <a:r>
              <a:rPr lang="en-US" sz="6400" spc="-128" kern="100" dirty="0">
                <a:solidFill>
                  <a:srgbClr val="1E2A44"/>
                </a:solidFill>
                <a:latin typeface="Red Hat Mono Medium" pitchFamily="34" charset="0"/>
                <a:ea typeface="Red Hat Mono Medium" pitchFamily="34" charset="-122"/>
                <a:cs typeface="Red Hat Mono Medium" pitchFamily="34" charset="-120"/>
              </a:rPr>
              <a:t>More to learn.</a:t>
            </a:r>
            <a:endParaRPr lang="en-US" sz="6400" dirty="0"/>
          </a:p>
          <a:p>
            <a:pPr algn="l" indent="0" marL="0">
              <a:lnSpc>
                <a:spcPct val="83000"/>
              </a:lnSpc>
              <a:buNone/>
            </a:pPr>
            <a:r>
              <a:rPr lang="en-US" sz="6400" spc="-128" kern="100" dirty="0">
                <a:solidFill>
                  <a:srgbClr val="1E2A44"/>
                </a:solidFill>
                <a:latin typeface="Red Hat Mono Medium" pitchFamily="34" charset="0"/>
                <a:ea typeface="Red Hat Mono Medium" pitchFamily="34" charset="-122"/>
                <a:cs typeface="Red Hat Mono Medium" pitchFamily="34" charset="-120"/>
              </a:rPr>
              <a:t>The same 24 hours.</a:t>
            </a:r>
            <a:endParaRPr lang="en-US" sz="6400" dirty="0"/>
          </a:p>
        </p:txBody>
      </p:sp>
      <p:pic>
        <p:nvPicPr>
          <p:cNvPr id="4" name="Image 0" descr="preencoded.png">    </p:cNvPr>
          <p:cNvPicPr>
            <a:picLocks noChangeAspect="1"/>
          </p:cNvPicPr>
          <p:nvPr/>
        </p:nvPicPr>
        <p:blipFill>
          <a:blip r:embed="rId1"/>
          <a:stretch>
            <a:fillRect/>
          </a:stretch>
        </p:blipFill>
        <p:spPr>
          <a:xfrm>
            <a:off x="609585" y="3853359"/>
            <a:ext cx="10972526" cy="123825"/>
          </a:xfrm>
          <a:prstGeom prst="rect">
            <a:avLst/>
          </a:prstGeom>
        </p:spPr>
      </p:pic>
      <p:sp>
        <p:nvSpPr>
          <p:cNvPr id="5" name="Text 2"/>
          <p:cNvSpPr/>
          <p:nvPr/>
        </p:nvSpPr>
        <p:spPr>
          <a:xfrm>
            <a:off x="609585" y="4148634"/>
            <a:ext cx="5841854"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1E2A44"/>
                </a:solidFill>
                <a:latin typeface="Figtree" pitchFamily="34" charset="0"/>
                <a:ea typeface="Figtree" pitchFamily="34" charset="-122"/>
                <a:cs typeface="Figtree" pitchFamily="34" charset="-120"/>
              </a:rPr>
              <a:t>Time is the learner’s biggest limitation. The challenge is no longer access to knowledge. It is turning limited time into meaningful progress.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191220"/>
            <a:ext cx="6918846"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OPPORTUNITY</a:t>
            </a:r>
            <a:endParaRPr lang="en-US" sz="1100" dirty="0"/>
          </a:p>
        </p:txBody>
      </p:sp>
      <p:sp>
        <p:nvSpPr>
          <p:cNvPr id="3" name="Text 1"/>
          <p:cNvSpPr/>
          <p:nvPr/>
        </p:nvSpPr>
        <p:spPr>
          <a:xfrm>
            <a:off x="609585" y="1442045"/>
            <a:ext cx="6309262" cy="1840111"/>
          </a:xfrm>
          <a:prstGeom prst="rect">
            <a:avLst/>
          </a:prstGeom>
          <a:noFill/>
          <a:ln/>
        </p:spPr>
        <p:txBody>
          <a:bodyPr wrap="square" lIns="0" tIns="0" rIns="0" bIns="0" rtlCol="0" anchor="t">
            <a:normAutofit/>
          </a:bodyPr>
          <a:lstStyle/>
          <a:p>
            <a:pPr algn="l" indent="0" marL="0">
              <a:lnSpc>
                <a:spcPct val="88000"/>
              </a:lnSpc>
              <a:buNone/>
            </a:pPr>
            <a:r>
              <a:rPr lang="en-US" sz="4600" spc="-92" kern="100" dirty="0">
                <a:solidFill>
                  <a:srgbClr val="1E2A44"/>
                </a:solidFill>
                <a:latin typeface="Urbanist ExtraBold" pitchFamily="34" charset="0"/>
                <a:ea typeface="Urbanist ExtraBold" pitchFamily="34" charset="-122"/>
                <a:cs typeface="Urbanist ExtraBold" pitchFamily="34" charset="-120"/>
              </a:rPr>
              <a:t>BMC Academia turns time into learning progress</a:t>
            </a:r>
            <a:endParaRPr lang="en-US" sz="4600" dirty="0"/>
          </a:p>
        </p:txBody>
      </p:sp>
      <p:sp>
        <p:nvSpPr>
          <p:cNvPr id="4" name="Text 2"/>
          <p:cNvSpPr/>
          <p:nvPr/>
        </p:nvSpPr>
        <p:spPr>
          <a:xfrm>
            <a:off x="609585" y="3474938"/>
            <a:ext cx="584185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One platform designed to make learning faster, easier, and more efficient.</a:t>
            </a:r>
            <a:endParaRPr lang="en-US" sz="1500" dirty="0"/>
          </a:p>
        </p:txBody>
      </p:sp>
      <p:pic>
        <p:nvPicPr>
          <p:cNvPr id="5" name="Image 0" descr="preencoded.png">    </p:cNvPr>
          <p:cNvPicPr>
            <a:picLocks noChangeAspect="1"/>
          </p:cNvPicPr>
          <p:nvPr/>
        </p:nvPicPr>
        <p:blipFill>
          <a:blip r:embed="rId1"/>
          <a:stretch>
            <a:fillRect/>
          </a:stretch>
        </p:blipFill>
        <p:spPr>
          <a:xfrm>
            <a:off x="609585" y="4179788"/>
            <a:ext cx="6309262" cy="123825"/>
          </a:xfrm>
          <a:prstGeom prst="rect">
            <a:avLst/>
          </a:prstGeom>
        </p:spPr>
      </p:pic>
      <p:sp>
        <p:nvSpPr>
          <p:cNvPr id="6" name="Text 3"/>
          <p:cNvSpPr/>
          <p:nvPr/>
        </p:nvSpPr>
        <p:spPr>
          <a:xfrm>
            <a:off x="609585" y="4475063"/>
            <a:ext cx="812284"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01</a:t>
            </a:r>
            <a:endParaRPr lang="en-US" sz="1500" dirty="0"/>
          </a:p>
        </p:txBody>
      </p:sp>
      <p:sp>
        <p:nvSpPr>
          <p:cNvPr id="7" name="Shape 4"/>
          <p:cNvSpPr/>
          <p:nvPr/>
        </p:nvSpPr>
        <p:spPr>
          <a:xfrm>
            <a:off x="609585" y="4741763"/>
            <a:ext cx="2001391" cy="19050"/>
          </a:xfrm>
          <a:prstGeom prst="rect">
            <a:avLst/>
          </a:prstGeom>
          <a:solidFill>
            <a:srgbClr val="1E2A44"/>
          </a:solidFill>
          <a:ln/>
        </p:spPr>
      </p:sp>
      <p:sp>
        <p:nvSpPr>
          <p:cNvPr id="8" name="Text 5"/>
          <p:cNvSpPr/>
          <p:nvPr/>
        </p:nvSpPr>
        <p:spPr>
          <a:xfrm>
            <a:off x="609585" y="4875113"/>
            <a:ext cx="200149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Time</a:t>
            </a:r>
            <a:endParaRPr lang="en-US" sz="1600" dirty="0"/>
          </a:p>
        </p:txBody>
      </p:sp>
      <p:sp>
        <p:nvSpPr>
          <p:cNvPr id="9" name="Text 6"/>
          <p:cNvSpPr/>
          <p:nvPr/>
        </p:nvSpPr>
        <p:spPr>
          <a:xfrm>
            <a:off x="609585" y="5255419"/>
            <a:ext cx="2001490" cy="205680"/>
          </a:xfrm>
          <a:prstGeom prst="rect">
            <a:avLst/>
          </a:prstGeom>
          <a:noFill/>
          <a:ln/>
        </p:spPr>
        <p:txBody>
          <a:bodyPr wrap="none" lIns="0" tIns="0" rIns="0" bIns="0" rtlCol="0" anchor="t"/>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Use each study moment well.</a:t>
            </a:r>
            <a:endParaRPr lang="en-US" sz="1200" dirty="0"/>
          </a:p>
        </p:txBody>
      </p:sp>
      <p:sp>
        <p:nvSpPr>
          <p:cNvPr id="10" name="Text 7"/>
          <p:cNvSpPr/>
          <p:nvPr/>
        </p:nvSpPr>
        <p:spPr>
          <a:xfrm>
            <a:off x="2763471" y="4475063"/>
            <a:ext cx="841255"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02</a:t>
            </a:r>
            <a:endParaRPr lang="en-US" sz="1500" dirty="0"/>
          </a:p>
        </p:txBody>
      </p:sp>
      <p:sp>
        <p:nvSpPr>
          <p:cNvPr id="11" name="Shape 8"/>
          <p:cNvSpPr/>
          <p:nvPr/>
        </p:nvSpPr>
        <p:spPr>
          <a:xfrm>
            <a:off x="2763471" y="4741763"/>
            <a:ext cx="2001391" cy="19050"/>
          </a:xfrm>
          <a:prstGeom prst="rect">
            <a:avLst/>
          </a:prstGeom>
          <a:solidFill>
            <a:srgbClr val="1E2A44"/>
          </a:solidFill>
          <a:ln/>
        </p:spPr>
      </p:sp>
      <p:sp>
        <p:nvSpPr>
          <p:cNvPr id="12" name="Text 9"/>
          <p:cNvSpPr/>
          <p:nvPr/>
        </p:nvSpPr>
        <p:spPr>
          <a:xfrm>
            <a:off x="2763471" y="4875113"/>
            <a:ext cx="200149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Knowledge</a:t>
            </a:r>
            <a:endParaRPr lang="en-US" sz="1600" dirty="0"/>
          </a:p>
        </p:txBody>
      </p:sp>
      <p:sp>
        <p:nvSpPr>
          <p:cNvPr id="13" name="Text 10"/>
          <p:cNvSpPr/>
          <p:nvPr/>
        </p:nvSpPr>
        <p:spPr>
          <a:xfrm>
            <a:off x="2763471" y="5255419"/>
            <a:ext cx="200149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Bring the right material together.</a:t>
            </a:r>
            <a:endParaRPr lang="en-US" sz="1200" dirty="0"/>
          </a:p>
        </p:txBody>
      </p:sp>
      <p:sp>
        <p:nvSpPr>
          <p:cNvPr id="14" name="Text 11"/>
          <p:cNvSpPr/>
          <p:nvPr/>
        </p:nvSpPr>
        <p:spPr>
          <a:xfrm>
            <a:off x="4917357" y="4475063"/>
            <a:ext cx="837485"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03</a:t>
            </a:r>
            <a:endParaRPr lang="en-US" sz="1500" dirty="0"/>
          </a:p>
        </p:txBody>
      </p:sp>
      <p:sp>
        <p:nvSpPr>
          <p:cNvPr id="15" name="Shape 12"/>
          <p:cNvSpPr/>
          <p:nvPr/>
        </p:nvSpPr>
        <p:spPr>
          <a:xfrm>
            <a:off x="4917357" y="4741763"/>
            <a:ext cx="2001391" cy="19050"/>
          </a:xfrm>
          <a:prstGeom prst="rect">
            <a:avLst/>
          </a:prstGeom>
          <a:solidFill>
            <a:srgbClr val="1E2A44"/>
          </a:solidFill>
          <a:ln/>
        </p:spPr>
      </p:sp>
      <p:sp>
        <p:nvSpPr>
          <p:cNvPr id="16" name="Text 13"/>
          <p:cNvSpPr/>
          <p:nvPr/>
        </p:nvSpPr>
        <p:spPr>
          <a:xfrm>
            <a:off x="4917357" y="4875113"/>
            <a:ext cx="200149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Learning</a:t>
            </a:r>
            <a:endParaRPr lang="en-US" sz="1600" dirty="0"/>
          </a:p>
        </p:txBody>
      </p:sp>
      <p:sp>
        <p:nvSpPr>
          <p:cNvPr id="17" name="Text 14"/>
          <p:cNvSpPr/>
          <p:nvPr/>
        </p:nvSpPr>
        <p:spPr>
          <a:xfrm>
            <a:off x="4917357" y="5255419"/>
            <a:ext cx="200149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Move from effort to progress.</a:t>
            </a:r>
            <a:endParaRPr lang="en-US" sz="1200" dirty="0"/>
          </a:p>
        </p:txBody>
      </p:sp>
      <p:pic>
        <p:nvPicPr>
          <p:cNvPr id="18" name="Image 1" descr="preencoded.png">    </p:cNvPr>
          <p:cNvPicPr>
            <a:picLocks noChangeAspect="1"/>
          </p:cNvPicPr>
          <p:nvPr/>
        </p:nvPicPr>
        <p:blipFill>
          <a:blip r:embed="rId2"/>
          <a:stretch>
            <a:fillRect/>
          </a:stretch>
        </p:blipFill>
        <p:spPr>
          <a:xfrm>
            <a:off x="7833124" y="0"/>
            <a:ext cx="4358571"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PLATFORM</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Everything students need for smarter study</a:t>
            </a:r>
            <a:endParaRPr lang="en-US" sz="3000" dirty="0"/>
          </a:p>
        </p:txBody>
      </p:sp>
      <p:sp>
        <p:nvSpPr>
          <p:cNvPr id="4" name="Shape 2"/>
          <p:cNvSpPr/>
          <p:nvPr/>
        </p:nvSpPr>
        <p:spPr>
          <a:xfrm>
            <a:off x="609585" y="1450975"/>
            <a:ext cx="2514537" cy="4797425"/>
          </a:xfrm>
          <a:prstGeom prst="roundRect">
            <a:avLst>
              <a:gd name="adj" fmla="val 8485"/>
            </a:avLst>
          </a:prstGeom>
          <a:solidFill>
            <a:srgbClr val="FFFFFF"/>
          </a:solidFill>
          <a:ln w="25399">
            <a:solidFill>
              <a:srgbClr val="37435D"/>
            </a:solidFill>
            <a:prstDash val="solid"/>
          </a:ln>
        </p:spPr>
      </p:sp>
      <p:sp>
        <p:nvSpPr>
          <p:cNvPr id="5" name="Shape 3"/>
          <p:cNvSpPr/>
          <p:nvPr/>
        </p:nvSpPr>
        <p:spPr>
          <a:xfrm>
            <a:off x="863578" y="1704975"/>
            <a:ext cx="584185" cy="584200"/>
          </a:xfrm>
          <a:prstGeom prst="ellipse">
            <a:avLst/>
          </a:prstGeom>
          <a:solidFill>
            <a:srgbClr val="1E2A44"/>
          </a:solidFill>
          <a:ln w="6350">
            <a:solidFill>
              <a:srgbClr val="37435D"/>
            </a:solidFill>
            <a:prstDash val="solid"/>
          </a:ln>
        </p:spPr>
      </p:sp>
      <p:pic>
        <p:nvPicPr>
          <p:cNvPr id="6" name="Image 0" descr="preencoded.png">    </p:cNvPr>
          <p:cNvPicPr>
            <a:picLocks noChangeAspect="1"/>
          </p:cNvPicPr>
          <p:nvPr/>
        </p:nvPicPr>
        <p:blipFill>
          <a:blip r:embed="rId1"/>
          <a:stretch>
            <a:fillRect/>
          </a:stretch>
        </p:blipFill>
        <p:spPr>
          <a:xfrm>
            <a:off x="1012800" y="1854200"/>
            <a:ext cx="285743" cy="285750"/>
          </a:xfrm>
          <a:prstGeom prst="rect">
            <a:avLst/>
          </a:prstGeom>
        </p:spPr>
      </p:pic>
      <p:sp>
        <p:nvSpPr>
          <p:cNvPr id="7" name="Text 4"/>
          <p:cNvSpPr/>
          <p:nvPr/>
        </p:nvSpPr>
        <p:spPr>
          <a:xfrm>
            <a:off x="863578" y="2400300"/>
            <a:ext cx="200655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Concise Notes</a:t>
            </a:r>
            <a:endParaRPr lang="en-US" sz="1600" dirty="0"/>
          </a:p>
        </p:txBody>
      </p:sp>
      <p:sp>
        <p:nvSpPr>
          <p:cNvPr id="8" name="Text 5"/>
          <p:cNvSpPr/>
          <p:nvPr/>
        </p:nvSpPr>
        <p:spPr>
          <a:xfrm>
            <a:off x="863578" y="2780605"/>
            <a:ext cx="200655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Short, easy-to-understand topic summaries.</a:t>
            </a:r>
            <a:endParaRPr lang="en-US" sz="1200" dirty="0"/>
          </a:p>
        </p:txBody>
      </p:sp>
      <p:sp>
        <p:nvSpPr>
          <p:cNvPr id="9" name="Shape 6"/>
          <p:cNvSpPr/>
          <p:nvPr/>
        </p:nvSpPr>
        <p:spPr>
          <a:xfrm>
            <a:off x="3428914" y="1450975"/>
            <a:ext cx="2514537" cy="4797425"/>
          </a:xfrm>
          <a:prstGeom prst="roundRect">
            <a:avLst>
              <a:gd name="adj" fmla="val 8485"/>
            </a:avLst>
          </a:prstGeom>
          <a:solidFill>
            <a:srgbClr val="FFFFFF"/>
          </a:solidFill>
          <a:ln w="25399">
            <a:solidFill>
              <a:srgbClr val="37435D"/>
            </a:solidFill>
            <a:prstDash val="solid"/>
          </a:ln>
        </p:spPr>
      </p:sp>
      <p:sp>
        <p:nvSpPr>
          <p:cNvPr id="10" name="Shape 7"/>
          <p:cNvSpPr/>
          <p:nvPr/>
        </p:nvSpPr>
        <p:spPr>
          <a:xfrm>
            <a:off x="3682908" y="1704975"/>
            <a:ext cx="584185" cy="584200"/>
          </a:xfrm>
          <a:prstGeom prst="ellipse">
            <a:avLst/>
          </a:prstGeom>
          <a:solidFill>
            <a:srgbClr val="1E2A44"/>
          </a:solidFill>
          <a:ln w="6350">
            <a:solidFill>
              <a:srgbClr val="37435D"/>
            </a:solidFill>
            <a:prstDash val="solid"/>
          </a:ln>
        </p:spPr>
      </p:sp>
      <p:pic>
        <p:nvPicPr>
          <p:cNvPr id="11" name="Image 1" descr="preencoded.png">    </p:cNvPr>
          <p:cNvPicPr>
            <a:picLocks noChangeAspect="1"/>
          </p:cNvPicPr>
          <p:nvPr/>
        </p:nvPicPr>
        <p:blipFill>
          <a:blip r:embed="rId2"/>
          <a:stretch>
            <a:fillRect/>
          </a:stretch>
        </p:blipFill>
        <p:spPr>
          <a:xfrm>
            <a:off x="3832129" y="1854200"/>
            <a:ext cx="285743" cy="285750"/>
          </a:xfrm>
          <a:prstGeom prst="rect">
            <a:avLst/>
          </a:prstGeom>
        </p:spPr>
      </p:pic>
      <p:sp>
        <p:nvSpPr>
          <p:cNvPr id="12" name="Text 8"/>
          <p:cNvSpPr/>
          <p:nvPr/>
        </p:nvSpPr>
        <p:spPr>
          <a:xfrm>
            <a:off x="3682908" y="2400300"/>
            <a:ext cx="200655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Flashcards</a:t>
            </a:r>
            <a:endParaRPr lang="en-US" sz="1600" dirty="0"/>
          </a:p>
        </p:txBody>
      </p:sp>
      <p:sp>
        <p:nvSpPr>
          <p:cNvPr id="13" name="Text 9"/>
          <p:cNvSpPr/>
          <p:nvPr/>
        </p:nvSpPr>
        <p:spPr>
          <a:xfrm>
            <a:off x="3682908" y="2780605"/>
            <a:ext cx="2260543"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Quick and effective revision.</a:t>
            </a:r>
            <a:endParaRPr lang="en-US" sz="1200" dirty="0"/>
          </a:p>
        </p:txBody>
      </p:sp>
      <p:sp>
        <p:nvSpPr>
          <p:cNvPr id="14" name="Shape 10"/>
          <p:cNvSpPr/>
          <p:nvPr/>
        </p:nvSpPr>
        <p:spPr>
          <a:xfrm>
            <a:off x="6248244" y="1450975"/>
            <a:ext cx="2514537" cy="4797425"/>
          </a:xfrm>
          <a:prstGeom prst="roundRect">
            <a:avLst>
              <a:gd name="adj" fmla="val 8485"/>
            </a:avLst>
          </a:prstGeom>
          <a:solidFill>
            <a:srgbClr val="FFFFFF"/>
          </a:solidFill>
          <a:ln w="25399">
            <a:solidFill>
              <a:srgbClr val="37435D"/>
            </a:solidFill>
            <a:prstDash val="solid"/>
          </a:ln>
        </p:spPr>
      </p:sp>
      <p:sp>
        <p:nvSpPr>
          <p:cNvPr id="15" name="Shape 11"/>
          <p:cNvSpPr/>
          <p:nvPr/>
        </p:nvSpPr>
        <p:spPr>
          <a:xfrm>
            <a:off x="6502237" y="1704975"/>
            <a:ext cx="584185" cy="584200"/>
          </a:xfrm>
          <a:prstGeom prst="ellipse">
            <a:avLst/>
          </a:prstGeom>
          <a:solidFill>
            <a:srgbClr val="1E2A44"/>
          </a:solidFill>
          <a:ln w="6350">
            <a:solidFill>
              <a:srgbClr val="37435D"/>
            </a:solidFill>
            <a:prstDash val="solid"/>
          </a:ln>
        </p:spPr>
      </p:sp>
      <p:pic>
        <p:nvPicPr>
          <p:cNvPr id="16" name="Image 2" descr="preencoded.png">    </p:cNvPr>
          <p:cNvPicPr>
            <a:picLocks noChangeAspect="1"/>
          </p:cNvPicPr>
          <p:nvPr/>
        </p:nvPicPr>
        <p:blipFill>
          <a:blip r:embed="rId3"/>
          <a:stretch>
            <a:fillRect/>
          </a:stretch>
        </p:blipFill>
        <p:spPr>
          <a:xfrm>
            <a:off x="6651459" y="1854200"/>
            <a:ext cx="285743" cy="285750"/>
          </a:xfrm>
          <a:prstGeom prst="rect">
            <a:avLst/>
          </a:prstGeom>
        </p:spPr>
      </p:pic>
      <p:sp>
        <p:nvSpPr>
          <p:cNvPr id="17" name="Text 12"/>
          <p:cNvSpPr/>
          <p:nvPr/>
        </p:nvSpPr>
        <p:spPr>
          <a:xfrm>
            <a:off x="6502237" y="2400300"/>
            <a:ext cx="2006550" cy="487561"/>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Past Questions &amp; Solutions</a:t>
            </a:r>
            <a:endParaRPr lang="en-US" sz="1600" dirty="0"/>
          </a:p>
        </p:txBody>
      </p:sp>
      <p:sp>
        <p:nvSpPr>
          <p:cNvPr id="18" name="Text 13"/>
          <p:cNvSpPr/>
          <p:nvPr/>
        </p:nvSpPr>
        <p:spPr>
          <a:xfrm>
            <a:off x="6502237" y="3024386"/>
            <a:ext cx="200655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Practice and build confidence.</a:t>
            </a:r>
            <a:endParaRPr lang="en-US" sz="1200" dirty="0"/>
          </a:p>
        </p:txBody>
      </p:sp>
      <p:sp>
        <p:nvSpPr>
          <p:cNvPr id="19" name="Shape 14"/>
          <p:cNvSpPr/>
          <p:nvPr/>
        </p:nvSpPr>
        <p:spPr>
          <a:xfrm>
            <a:off x="9067573" y="1450975"/>
            <a:ext cx="2514537" cy="4797425"/>
          </a:xfrm>
          <a:prstGeom prst="roundRect">
            <a:avLst>
              <a:gd name="adj" fmla="val 8485"/>
            </a:avLst>
          </a:prstGeom>
          <a:solidFill>
            <a:srgbClr val="FFFFFF"/>
          </a:solidFill>
          <a:ln w="25399">
            <a:solidFill>
              <a:srgbClr val="37435D"/>
            </a:solidFill>
            <a:prstDash val="solid"/>
          </a:ln>
        </p:spPr>
      </p:sp>
      <p:sp>
        <p:nvSpPr>
          <p:cNvPr id="20" name="Shape 15"/>
          <p:cNvSpPr/>
          <p:nvPr/>
        </p:nvSpPr>
        <p:spPr>
          <a:xfrm>
            <a:off x="9321567" y="1704975"/>
            <a:ext cx="584185" cy="584200"/>
          </a:xfrm>
          <a:prstGeom prst="ellipse">
            <a:avLst/>
          </a:prstGeom>
          <a:solidFill>
            <a:srgbClr val="1E2A44"/>
          </a:solidFill>
          <a:ln w="6350">
            <a:solidFill>
              <a:srgbClr val="37435D"/>
            </a:solidFill>
            <a:prstDash val="solid"/>
          </a:ln>
        </p:spPr>
      </p:sp>
      <p:pic>
        <p:nvPicPr>
          <p:cNvPr id="21" name="Image 3" descr="preencoded.png">    </p:cNvPr>
          <p:cNvPicPr>
            <a:picLocks noChangeAspect="1"/>
          </p:cNvPicPr>
          <p:nvPr/>
        </p:nvPicPr>
        <p:blipFill>
          <a:blip r:embed="rId4"/>
          <a:stretch>
            <a:fillRect/>
          </a:stretch>
        </p:blipFill>
        <p:spPr>
          <a:xfrm>
            <a:off x="9470788" y="1854200"/>
            <a:ext cx="285743" cy="285750"/>
          </a:xfrm>
          <a:prstGeom prst="rect">
            <a:avLst/>
          </a:prstGeom>
        </p:spPr>
      </p:pic>
      <p:sp>
        <p:nvSpPr>
          <p:cNvPr id="22" name="Text 16"/>
          <p:cNvSpPr/>
          <p:nvPr/>
        </p:nvSpPr>
        <p:spPr>
          <a:xfrm>
            <a:off x="9321567" y="2400300"/>
            <a:ext cx="200655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Resources</a:t>
            </a:r>
            <a:endParaRPr lang="en-US" sz="1600" dirty="0"/>
          </a:p>
        </p:txBody>
      </p:sp>
      <p:sp>
        <p:nvSpPr>
          <p:cNvPr id="23" name="Text 17"/>
          <p:cNvSpPr/>
          <p:nvPr/>
        </p:nvSpPr>
        <p:spPr>
          <a:xfrm>
            <a:off x="9321567" y="2780605"/>
            <a:ext cx="200655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Connect PDFs, videos, links, and other study materials.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281708"/>
            <a:ext cx="4470288"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EXTENDED CLASSROOM</a:t>
            </a:r>
            <a:endParaRPr lang="en-US" sz="1100" dirty="0"/>
          </a:p>
        </p:txBody>
      </p:sp>
      <p:sp>
        <p:nvSpPr>
          <p:cNvPr id="3" name="Text 1"/>
          <p:cNvSpPr/>
          <p:nvPr/>
        </p:nvSpPr>
        <p:spPr>
          <a:xfrm>
            <a:off x="609585" y="1532533"/>
            <a:ext cx="3860703" cy="2453481"/>
          </a:xfrm>
          <a:prstGeom prst="rect">
            <a:avLst/>
          </a:prstGeom>
          <a:noFill/>
          <a:ln/>
        </p:spPr>
        <p:txBody>
          <a:bodyPr wrap="square" lIns="0" tIns="0" rIns="0" bIns="0" rtlCol="0" anchor="t">
            <a:normAutofit/>
          </a:bodyPr>
          <a:lstStyle/>
          <a:p>
            <a:pPr algn="l" indent="0" marL="0">
              <a:lnSpc>
                <a:spcPct val="88000"/>
              </a:lnSpc>
              <a:buNone/>
            </a:pPr>
            <a:r>
              <a:rPr lang="en-US" sz="4600" spc="-92" kern="100" dirty="0">
                <a:solidFill>
                  <a:srgbClr val="1E2A44"/>
                </a:solidFill>
                <a:latin typeface="Urbanist ExtraBold" pitchFamily="34" charset="0"/>
                <a:ea typeface="Urbanist ExtraBold" pitchFamily="34" charset="-122"/>
                <a:cs typeface="Urbanist ExtraBold" pitchFamily="34" charset="-120"/>
              </a:rPr>
              <a:t>The classroom can keep teaching after class ends</a:t>
            </a:r>
            <a:endParaRPr lang="en-US" sz="4600" dirty="0"/>
          </a:p>
        </p:txBody>
      </p:sp>
      <p:sp>
        <p:nvSpPr>
          <p:cNvPr id="4" name="Text 2"/>
          <p:cNvSpPr/>
          <p:nvPr/>
        </p:nvSpPr>
        <p:spPr>
          <a:xfrm>
            <a:off x="609585" y="4178796"/>
            <a:ext cx="812284"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01</a:t>
            </a:r>
            <a:endParaRPr lang="en-US" sz="1500" dirty="0"/>
          </a:p>
        </p:txBody>
      </p:sp>
      <p:sp>
        <p:nvSpPr>
          <p:cNvPr id="5" name="Shape 3"/>
          <p:cNvSpPr/>
          <p:nvPr/>
        </p:nvSpPr>
        <p:spPr>
          <a:xfrm>
            <a:off x="609585" y="4445496"/>
            <a:ext cx="1185238" cy="19050"/>
          </a:xfrm>
          <a:prstGeom prst="rect">
            <a:avLst/>
          </a:prstGeom>
          <a:solidFill>
            <a:srgbClr val="1E2A44"/>
          </a:solidFill>
          <a:ln/>
        </p:spPr>
      </p:sp>
      <p:sp>
        <p:nvSpPr>
          <p:cNvPr id="6" name="Text 4"/>
          <p:cNvSpPr/>
          <p:nvPr/>
        </p:nvSpPr>
        <p:spPr>
          <a:xfrm>
            <a:off x="609585" y="4578846"/>
            <a:ext cx="1185238"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Record</a:t>
            </a:r>
            <a:endParaRPr lang="en-US" sz="1600" dirty="0"/>
          </a:p>
        </p:txBody>
      </p:sp>
      <p:sp>
        <p:nvSpPr>
          <p:cNvPr id="7" name="Text 5"/>
          <p:cNvSpPr/>
          <p:nvPr/>
        </p:nvSpPr>
        <p:spPr>
          <a:xfrm>
            <a:off x="609585" y="4959152"/>
            <a:ext cx="1185238" cy="61704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Capture the lecture automatically.</a:t>
            </a:r>
            <a:endParaRPr lang="en-US" sz="1200" dirty="0"/>
          </a:p>
        </p:txBody>
      </p:sp>
      <p:sp>
        <p:nvSpPr>
          <p:cNvPr id="8" name="Text 6"/>
          <p:cNvSpPr/>
          <p:nvPr/>
        </p:nvSpPr>
        <p:spPr>
          <a:xfrm>
            <a:off x="1947218" y="4178796"/>
            <a:ext cx="841255"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02</a:t>
            </a:r>
            <a:endParaRPr lang="en-US" sz="1500" dirty="0"/>
          </a:p>
        </p:txBody>
      </p:sp>
      <p:sp>
        <p:nvSpPr>
          <p:cNvPr id="9" name="Shape 7"/>
          <p:cNvSpPr/>
          <p:nvPr/>
        </p:nvSpPr>
        <p:spPr>
          <a:xfrm>
            <a:off x="1947218" y="4445496"/>
            <a:ext cx="1185337" cy="19050"/>
          </a:xfrm>
          <a:prstGeom prst="rect">
            <a:avLst/>
          </a:prstGeom>
          <a:solidFill>
            <a:srgbClr val="1E2A44"/>
          </a:solidFill>
          <a:ln/>
        </p:spPr>
      </p:sp>
      <p:sp>
        <p:nvSpPr>
          <p:cNvPr id="10" name="Text 8"/>
          <p:cNvSpPr/>
          <p:nvPr/>
        </p:nvSpPr>
        <p:spPr>
          <a:xfrm>
            <a:off x="1947218" y="4578846"/>
            <a:ext cx="1185337"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Save</a:t>
            </a:r>
            <a:endParaRPr lang="en-US" sz="1600" dirty="0"/>
          </a:p>
        </p:txBody>
      </p:sp>
      <p:sp>
        <p:nvSpPr>
          <p:cNvPr id="11" name="Text 9"/>
          <p:cNvSpPr/>
          <p:nvPr/>
        </p:nvSpPr>
        <p:spPr>
          <a:xfrm>
            <a:off x="1947218" y="4959152"/>
            <a:ext cx="1185337"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Keep it available for later.</a:t>
            </a:r>
            <a:endParaRPr lang="en-US" sz="1200" dirty="0"/>
          </a:p>
        </p:txBody>
      </p:sp>
      <p:sp>
        <p:nvSpPr>
          <p:cNvPr id="12" name="Text 10"/>
          <p:cNvSpPr/>
          <p:nvPr/>
        </p:nvSpPr>
        <p:spPr>
          <a:xfrm>
            <a:off x="3284951" y="4178796"/>
            <a:ext cx="837485" cy="190500"/>
          </a:xfrm>
          <a:prstGeom prst="rect">
            <a:avLst/>
          </a:prstGeom>
          <a:noFill/>
          <a:ln/>
        </p:spPr>
        <p:txBody>
          <a:bodyPr wrap="none" lIns="0" tIns="0" rIns="0" bIns="0" rtlCol="0" anchor="t"/>
          <a:lstStyle/>
          <a:p>
            <a:pPr algn="l" indent="0" marL="0">
              <a:lnSpc>
                <a:spcPct val="83000"/>
              </a:lnSpc>
              <a:buNone/>
            </a:pPr>
            <a:r>
              <a:rPr lang="en-US" sz="1500" dirty="0">
                <a:solidFill>
                  <a:srgbClr val="1E2A44"/>
                </a:solidFill>
                <a:latin typeface="Figtree SemiBold" pitchFamily="34" charset="0"/>
                <a:ea typeface="Figtree SemiBold" pitchFamily="34" charset="-122"/>
                <a:cs typeface="Figtree SemiBold" pitchFamily="34" charset="-120"/>
              </a:rPr>
              <a:t>03</a:t>
            </a:r>
            <a:endParaRPr lang="en-US" sz="1500" dirty="0"/>
          </a:p>
        </p:txBody>
      </p:sp>
      <p:sp>
        <p:nvSpPr>
          <p:cNvPr id="13" name="Shape 11"/>
          <p:cNvSpPr/>
          <p:nvPr/>
        </p:nvSpPr>
        <p:spPr>
          <a:xfrm>
            <a:off x="3284951" y="4445496"/>
            <a:ext cx="1185238" cy="19050"/>
          </a:xfrm>
          <a:prstGeom prst="rect">
            <a:avLst/>
          </a:prstGeom>
          <a:solidFill>
            <a:srgbClr val="1E2A44"/>
          </a:solidFill>
          <a:ln/>
        </p:spPr>
      </p:sp>
      <p:sp>
        <p:nvSpPr>
          <p:cNvPr id="14" name="Text 12"/>
          <p:cNvSpPr/>
          <p:nvPr/>
        </p:nvSpPr>
        <p:spPr>
          <a:xfrm>
            <a:off x="3284951" y="4578846"/>
            <a:ext cx="1185238"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Return</a:t>
            </a:r>
            <a:endParaRPr lang="en-US" sz="1600" dirty="0"/>
          </a:p>
        </p:txBody>
      </p:sp>
      <p:sp>
        <p:nvSpPr>
          <p:cNvPr id="15" name="Text 13"/>
          <p:cNvSpPr/>
          <p:nvPr/>
        </p:nvSpPr>
        <p:spPr>
          <a:xfrm>
            <a:off x="3284951" y="4959152"/>
            <a:ext cx="1185238" cy="61704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Learn again whenever needed.</a:t>
            </a:r>
            <a:endParaRPr lang="en-US" sz="1200" dirty="0"/>
          </a:p>
        </p:txBody>
      </p:sp>
      <p:pic>
        <p:nvPicPr>
          <p:cNvPr id="16" name="Image 0" descr="preencoded.png">    </p:cNvPr>
          <p:cNvPicPr>
            <a:picLocks noChangeAspect="1"/>
          </p:cNvPicPr>
          <p:nvPr/>
        </p:nvPicPr>
        <p:blipFill>
          <a:blip r:embed="rId1"/>
          <a:stretch>
            <a:fillRect/>
          </a:stretch>
        </p:blipFill>
        <p:spPr>
          <a:xfrm>
            <a:off x="5079873" y="0"/>
            <a:ext cx="7111822"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BUILDERS</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The people building BMC Academia</a:t>
            </a:r>
            <a:endParaRPr lang="en-US" sz="3000" dirty="0"/>
          </a:p>
        </p:txBody>
      </p:sp>
      <p:sp>
        <p:nvSpPr>
          <p:cNvPr id="4" name="Shape 2"/>
          <p:cNvSpPr/>
          <p:nvPr/>
        </p:nvSpPr>
        <p:spPr>
          <a:xfrm>
            <a:off x="609585" y="1450975"/>
            <a:ext cx="3454314" cy="4797425"/>
          </a:xfrm>
          <a:prstGeom prst="roundRect">
            <a:avLst>
              <a:gd name="adj" fmla="val 6176"/>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38179" y="3167757"/>
            <a:ext cx="380990" cy="381000"/>
          </a:xfrm>
          <a:prstGeom prst="rect">
            <a:avLst/>
          </a:prstGeom>
        </p:spPr>
      </p:pic>
      <p:sp>
        <p:nvSpPr>
          <p:cNvPr id="6" name="Text 3"/>
          <p:cNvSpPr/>
          <p:nvPr/>
        </p:nvSpPr>
        <p:spPr>
          <a:xfrm>
            <a:off x="838179" y="3659882"/>
            <a:ext cx="2997125"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a:t>
            </a:r>
            <a:endParaRPr lang="en-US" sz="1600" dirty="0"/>
          </a:p>
        </p:txBody>
      </p:sp>
      <p:sp>
        <p:nvSpPr>
          <p:cNvPr id="7" name="Text 4"/>
          <p:cNvSpPr/>
          <p:nvPr/>
        </p:nvSpPr>
        <p:spPr>
          <a:xfrm>
            <a:off x="838179" y="4040188"/>
            <a:ext cx="3225719"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[ROLE]</a:t>
            </a:r>
            <a:endParaRPr lang="en-US" sz="1100" dirty="0"/>
          </a:p>
        </p:txBody>
      </p:sp>
      <p:sp>
        <p:nvSpPr>
          <p:cNvPr id="8" name="Text 5"/>
          <p:cNvSpPr/>
          <p:nvPr/>
        </p:nvSpPr>
        <p:spPr>
          <a:xfrm>
            <a:off x="838179" y="4325938"/>
            <a:ext cx="3225719"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Profile photo to be added.</a:t>
            </a:r>
            <a:endParaRPr lang="en-US" sz="1200" dirty="0"/>
          </a:p>
        </p:txBody>
      </p:sp>
      <p:sp>
        <p:nvSpPr>
          <p:cNvPr id="9" name="Shape 6"/>
          <p:cNvSpPr/>
          <p:nvPr/>
        </p:nvSpPr>
        <p:spPr>
          <a:xfrm>
            <a:off x="4368691" y="1450975"/>
            <a:ext cx="3454314" cy="4797425"/>
          </a:xfrm>
          <a:prstGeom prst="roundRect">
            <a:avLst>
              <a:gd name="adj" fmla="val 6176"/>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4597285" y="3167757"/>
            <a:ext cx="380990" cy="381000"/>
          </a:xfrm>
          <a:prstGeom prst="rect">
            <a:avLst/>
          </a:prstGeom>
        </p:spPr>
      </p:pic>
      <p:sp>
        <p:nvSpPr>
          <p:cNvPr id="11" name="Text 7"/>
          <p:cNvSpPr/>
          <p:nvPr/>
        </p:nvSpPr>
        <p:spPr>
          <a:xfrm>
            <a:off x="4597285" y="3659882"/>
            <a:ext cx="2997125"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[Team member name]</a:t>
            </a:r>
            <a:endParaRPr lang="en-US" sz="1600" dirty="0"/>
          </a:p>
        </p:txBody>
      </p:sp>
      <p:sp>
        <p:nvSpPr>
          <p:cNvPr id="12" name="Text 8"/>
          <p:cNvSpPr/>
          <p:nvPr/>
        </p:nvSpPr>
        <p:spPr>
          <a:xfrm>
            <a:off x="4597285" y="4040188"/>
            <a:ext cx="3225719"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[ROLE]</a:t>
            </a:r>
            <a:endParaRPr lang="en-US" sz="1100" dirty="0"/>
          </a:p>
        </p:txBody>
      </p:sp>
      <p:sp>
        <p:nvSpPr>
          <p:cNvPr id="13" name="Text 9"/>
          <p:cNvSpPr/>
          <p:nvPr/>
        </p:nvSpPr>
        <p:spPr>
          <a:xfrm>
            <a:off x="4597285" y="4325938"/>
            <a:ext cx="3225719"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Profile photo to be added.</a:t>
            </a:r>
            <a:endParaRPr lang="en-US" sz="1200" dirty="0"/>
          </a:p>
        </p:txBody>
      </p:sp>
      <p:sp>
        <p:nvSpPr>
          <p:cNvPr id="14" name="Shape 10"/>
          <p:cNvSpPr/>
          <p:nvPr/>
        </p:nvSpPr>
        <p:spPr>
          <a:xfrm>
            <a:off x="8127797" y="1450975"/>
            <a:ext cx="3454314" cy="4797425"/>
          </a:xfrm>
          <a:prstGeom prst="roundRect">
            <a:avLst>
              <a:gd name="adj" fmla="val 6176"/>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8356391" y="3207742"/>
            <a:ext cx="380990" cy="381000"/>
          </a:xfrm>
          <a:prstGeom prst="rect">
            <a:avLst/>
          </a:prstGeom>
        </p:spPr>
      </p:pic>
      <p:sp>
        <p:nvSpPr>
          <p:cNvPr id="16" name="Text 11"/>
          <p:cNvSpPr/>
          <p:nvPr/>
        </p:nvSpPr>
        <p:spPr>
          <a:xfrm>
            <a:off x="8356391" y="3699867"/>
            <a:ext cx="2997125"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Our team</a:t>
            </a:r>
            <a:endParaRPr lang="en-US" sz="1600" dirty="0"/>
          </a:p>
        </p:txBody>
      </p:sp>
      <p:sp>
        <p:nvSpPr>
          <p:cNvPr id="17" name="Text 12"/>
          <p:cNvSpPr/>
          <p:nvPr/>
        </p:nvSpPr>
        <p:spPr>
          <a:xfrm>
            <a:off x="8356391" y="4080173"/>
            <a:ext cx="2997125"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Add photos and additional team members when available.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1907679"/>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BMC ACADEMIA</a:t>
            </a:r>
            <a:endParaRPr lang="en-US" sz="1100" dirty="0"/>
          </a:p>
        </p:txBody>
      </p:sp>
      <p:sp>
        <p:nvSpPr>
          <p:cNvPr id="3" name="Text 1"/>
          <p:cNvSpPr/>
          <p:nvPr/>
        </p:nvSpPr>
        <p:spPr>
          <a:xfrm>
            <a:off x="609585" y="2158504"/>
            <a:ext cx="10972526" cy="1117600"/>
          </a:xfrm>
          <a:prstGeom prst="rect">
            <a:avLst/>
          </a:prstGeom>
          <a:noFill/>
          <a:ln/>
        </p:spPr>
        <p:txBody>
          <a:bodyPr wrap="none" lIns="0" tIns="0" rIns="0" bIns="0" rtlCol="0" anchor="t"/>
          <a:lstStyle/>
          <a:p>
            <a:pPr algn="l" indent="0" marL="0">
              <a:lnSpc>
                <a:spcPct val="83000"/>
              </a:lnSpc>
              <a:buNone/>
            </a:pPr>
            <a:r>
              <a:rPr lang="en-US" sz="8800" spc="-176" kern="100" dirty="0">
                <a:solidFill>
                  <a:srgbClr val="1E2A44"/>
                </a:solidFill>
                <a:latin typeface="Red Hat Mono Medium" pitchFamily="34" charset="0"/>
                <a:ea typeface="Red Hat Mono Medium" pitchFamily="34" charset="-122"/>
                <a:cs typeface="Red Hat Mono Medium" pitchFamily="34" charset="-120"/>
              </a:rPr>
              <a:t>Thank You</a:t>
            </a:r>
            <a:endParaRPr lang="en-US" sz="8800" dirty="0"/>
          </a:p>
        </p:txBody>
      </p:sp>
      <p:pic>
        <p:nvPicPr>
          <p:cNvPr id="4" name="Image 0" descr="preencoded.png">    </p:cNvPr>
          <p:cNvPicPr>
            <a:picLocks noChangeAspect="1"/>
          </p:cNvPicPr>
          <p:nvPr/>
        </p:nvPicPr>
        <p:blipFill>
          <a:blip r:embed="rId1"/>
          <a:stretch>
            <a:fillRect/>
          </a:stretch>
        </p:blipFill>
        <p:spPr>
          <a:xfrm>
            <a:off x="609585" y="3588941"/>
            <a:ext cx="10972526" cy="123825"/>
          </a:xfrm>
          <a:prstGeom prst="rect">
            <a:avLst/>
          </a:prstGeom>
        </p:spPr>
      </p:pic>
      <p:sp>
        <p:nvSpPr>
          <p:cNvPr id="5" name="Text 2"/>
          <p:cNvSpPr/>
          <p:nvPr/>
        </p:nvSpPr>
        <p:spPr>
          <a:xfrm>
            <a:off x="609585" y="4039791"/>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Questions &amp; Answers?</a:t>
            </a:r>
            <a:endParaRPr lang="en-US" sz="3000" dirty="0"/>
          </a:p>
        </p:txBody>
      </p:sp>
      <p:sp>
        <p:nvSpPr>
          <p:cNvPr id="6" name="Text 3"/>
          <p:cNvSpPr/>
          <p:nvPr/>
        </p:nvSpPr>
        <p:spPr>
          <a:xfrm>
            <a:off x="609585" y="4630341"/>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1E2A44"/>
                </a:solidFill>
                <a:latin typeface="Figtree" pitchFamily="34" charset="0"/>
                <a:ea typeface="Figtree" pitchFamily="34" charset="-122"/>
                <a:cs typeface="Figtree" pitchFamily="34" charset="-120"/>
              </a:rPr>
              <a:t>We invite you to ask questions, share ideas, and help shape the future of learning at BMC.</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2026-10-05T16:21:59Z</dcterms:created>
  <dcterms:modified xsi:type="dcterms:W3CDTF">2026-10-05T16:21:59Z</dcterms:modified>
</cp:coreProperties>
</file>